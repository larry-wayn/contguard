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4" r:id="rId3"/>
    <p:sldId id="263" r:id="rId4"/>
    <p:sldId id="266" r:id="rId5"/>
    <p:sldId id="283" r:id="rId6"/>
    <p:sldId id="282" r:id="rId7"/>
    <p:sldId id="281" r:id="rId8"/>
    <p:sldId id="297" r:id="rId9"/>
    <p:sldId id="256" r:id="rId10"/>
    <p:sldId id="257" r:id="rId11"/>
    <p:sldId id="258" r:id="rId12"/>
    <p:sldId id="259" r:id="rId13"/>
    <p:sldId id="299" r:id="rId14"/>
    <p:sldId id="300" r:id="rId15"/>
    <p:sldId id="284" r:id="rId16"/>
    <p:sldId id="285" r:id="rId17"/>
    <p:sldId id="275" r:id="rId18"/>
    <p:sldId id="267" r:id="rId19"/>
    <p:sldId id="278" r:id="rId20"/>
    <p:sldId id="26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36" name=""/>
        <p:cNvGrpSpPr/>
        <p:nvPr/>
      </p:nvGrpSpPr>
      <p:grpSpPr>
        <a:xfrm>
          <a:off x="0" y="0"/>
          <a:ext cx="0" cy="0"/>
          <a:chOff x="0" y="0"/>
          <a:chExt cx="0" cy="0"/>
        </a:xfrm>
      </p:grpSpPr>
      <p:pic>
        <p:nvPicPr>
          <p:cNvPr id="2097346" name="图片 20" descr="C:\Users\Administrator\Desktop\ppt.pngppt"/>
          <p:cNvPicPr>
            <a:picLocks noChangeAspect="1"/>
          </p:cNvPicPr>
          <p:nvPr/>
        </p:nvPicPr>
        <p:blipFill>
          <a:blip r:embed="rId1"/>
          <a:srcRect/>
          <a:stretch>
            <a:fillRect/>
          </a:stretch>
        </p:blipFill>
        <p:spPr>
          <a:xfrm>
            <a:off x="5715" y="5208588"/>
            <a:ext cx="12192000" cy="1629410"/>
          </a:xfrm>
          <a:prstGeom prst="rect">
            <a:avLst/>
          </a:prstGeom>
        </p:spPr>
      </p:pic>
      <p:pic>
        <p:nvPicPr>
          <p:cNvPr id="2097347" name="图片 10" descr="C:\Users\Administrator\Desktop\蓝.png蓝"/>
          <p:cNvPicPr>
            <a:picLocks noChangeAspect="1"/>
          </p:cNvPicPr>
          <p:nvPr/>
        </p:nvPicPr>
        <p:blipFill>
          <a:blip r:embed="rId2"/>
          <a:srcRect/>
          <a:stretch>
            <a:fillRect/>
          </a:stretch>
        </p:blipFill>
        <p:spPr>
          <a:xfrm>
            <a:off x="-5715" y="1852295"/>
            <a:ext cx="12197715" cy="3356610"/>
          </a:xfrm>
          <a:prstGeom prst="rect">
            <a:avLst/>
          </a:prstGeom>
        </p:spPr>
      </p:pic>
      <p:sp>
        <p:nvSpPr>
          <p:cNvPr id="1048927" name="Shape 1406"/>
          <p:cNvSpPr/>
          <p:nvPr/>
        </p:nvSpPr>
        <p:spPr>
          <a:xfrm>
            <a:off x="4957445" y="3418205"/>
            <a:ext cx="7062470" cy="621030"/>
          </a:xfrm>
          <a:prstGeom prst="rect">
            <a:avLst/>
          </a:prstGeom>
          <a:ln w="12700">
            <a:miter lim="400000"/>
          </a:ln>
        </p:spPr>
        <p:txBody>
          <a:bodyPr wrap="square" lIns="34289" tIns="34289" rIns="34289" bIns="34289">
            <a:spAutoFit/>
          </a:bodyPr>
          <a:lstStyle>
            <a:lvl1pPr>
              <a:defRPr sz="2400" b="1">
                <a:solidFill>
                  <a:srgbClr val="9B0000"/>
                </a:solidFill>
                <a:latin typeface="微软雅黑" charset="-122"/>
                <a:ea typeface="微软雅黑" charset="-122"/>
                <a:cs typeface="微软雅黑" charset="-122"/>
                <a:sym typeface="微软雅黑" charset="-122"/>
              </a:defRPr>
            </a:lvl1pPr>
          </a:lstStyle>
          <a:p>
            <a:pPr algn="l"/>
            <a:r>
              <a:rPr lang="zh-CN" altLang="zh-CN" sz="3600">
                <a:ln>
                  <a:noFill/>
                </a:ln>
                <a:solidFill>
                  <a:schemeClr val="bg1"/>
                </a:solidFill>
                <a:effectLst/>
                <a:sym typeface="等线" panose="02010600030101010101" charset="-122"/>
              </a:rPr>
              <a:t>西电研究生操作系统开源创新</a:t>
            </a:r>
            <a:r>
              <a:rPr lang="zh-CN" altLang="zh-CN" sz="3600">
                <a:ln>
                  <a:noFill/>
                </a:ln>
                <a:solidFill>
                  <a:schemeClr val="bg1"/>
                </a:solidFill>
                <a:effectLst/>
                <a:sym typeface="等线" panose="02010600030101010101" charset="-122"/>
              </a:rPr>
              <a:t>大赛</a:t>
            </a:r>
            <a:endParaRPr lang="zh-CN" altLang="zh-CN" sz="3600">
              <a:ln>
                <a:noFill/>
              </a:ln>
              <a:solidFill>
                <a:schemeClr val="bg1"/>
              </a:solidFill>
              <a:effectLst/>
              <a:sym typeface="等线" panose="02010600030101010101" charset="-122"/>
            </a:endParaRPr>
          </a:p>
        </p:txBody>
      </p:sp>
      <p:pic>
        <p:nvPicPr>
          <p:cNvPr id="2097349" name="图片 17" descr="未标题-1"/>
          <p:cNvPicPr>
            <a:picLocks noChangeAspect="1"/>
          </p:cNvPicPr>
          <p:nvPr/>
        </p:nvPicPr>
        <p:blipFill>
          <a:blip r:embed="rId3"/>
          <a:stretch>
            <a:fillRect/>
          </a:stretch>
        </p:blipFill>
        <p:spPr>
          <a:xfrm>
            <a:off x="579120" y="405130"/>
            <a:ext cx="4763135" cy="1274445"/>
          </a:xfrm>
          <a:prstGeom prst="rect">
            <a:avLst/>
          </a:prstGeom>
        </p:spPr>
      </p:pic>
      <p:sp>
        <p:nvSpPr>
          <p:cNvPr id="1048928" name="同侧圆角矩形 24"/>
          <p:cNvSpPr/>
          <p:nvPr/>
        </p:nvSpPr>
        <p:spPr>
          <a:xfrm rot="10800000">
            <a:off x="9163685" y="0"/>
            <a:ext cx="2197100" cy="1872615"/>
          </a:xfrm>
          <a:prstGeom prst="round2SameRect">
            <a:avLst>
              <a:gd name="adj1" fmla="val 10220"/>
              <a:gd name="adj2" fmla="val 0"/>
            </a:avLst>
          </a:prstGeom>
          <a:solidFill>
            <a:srgbClr val="004D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929" name="Shape 1406"/>
          <p:cNvSpPr/>
          <p:nvPr/>
        </p:nvSpPr>
        <p:spPr>
          <a:xfrm>
            <a:off x="9671685" y="348615"/>
            <a:ext cx="1181100" cy="1174750"/>
          </a:xfrm>
          <a:prstGeom prst="rect">
            <a:avLst/>
          </a:prstGeom>
          <a:ln w="12700">
            <a:miter lim="400000"/>
          </a:ln>
        </p:spPr>
        <p:txBody>
          <a:bodyPr wrap="square" lIns="34289" tIns="34289" rIns="34289" bIns="34289">
            <a:spAutoFit/>
          </a:bodyPr>
          <a:lstStyle>
            <a:lvl1pPr>
              <a:defRPr sz="2400" b="1">
                <a:solidFill>
                  <a:srgbClr val="9B0000"/>
                </a:solidFill>
                <a:latin typeface="微软雅黑" charset="-122"/>
                <a:ea typeface="微软雅黑" charset="-122"/>
                <a:cs typeface="微软雅黑" charset="-122"/>
                <a:sym typeface="微软雅黑" charset="-122"/>
              </a:defRPr>
            </a:lvl1pPr>
          </a:lstStyle>
          <a:p>
            <a:pPr algn="ctr"/>
            <a:r>
              <a:rPr lang="zh-CN" altLang="en-US" cap="all">
                <a:ln>
                  <a:noFill/>
                </a:ln>
                <a:solidFill>
                  <a:schemeClr val="bg1"/>
                </a:solidFill>
                <a:effectLst/>
                <a:latin typeface="+mn-lt"/>
                <a:cs typeface="+mn-lt"/>
                <a:sym typeface="等线" panose="02010600030101010101" charset="-122"/>
              </a:rPr>
              <a:t>系统</a:t>
            </a:r>
            <a:endParaRPr lang="zh-CN" altLang="en-US" cap="all">
              <a:ln>
                <a:noFill/>
              </a:ln>
              <a:solidFill>
                <a:schemeClr val="bg1"/>
              </a:solidFill>
              <a:effectLst/>
              <a:latin typeface="+mn-lt"/>
              <a:cs typeface="+mn-lt"/>
              <a:sym typeface="等线" panose="02010600030101010101" charset="-122"/>
            </a:endParaRPr>
          </a:p>
          <a:p>
            <a:pPr algn="ctr"/>
            <a:r>
              <a:rPr lang="zh-CN" altLang="en-US" cap="all">
                <a:ln>
                  <a:noFill/>
                </a:ln>
                <a:solidFill>
                  <a:schemeClr val="bg1"/>
                </a:solidFill>
                <a:effectLst/>
                <a:latin typeface="+mn-lt"/>
                <a:cs typeface="+mn-lt"/>
                <a:sym typeface="等线" panose="02010600030101010101" charset="-122"/>
              </a:rPr>
              <a:t>创新</a:t>
            </a:r>
            <a:endParaRPr lang="zh-CN" altLang="en-US" cap="all">
              <a:ln>
                <a:noFill/>
              </a:ln>
              <a:solidFill>
                <a:schemeClr val="bg1"/>
              </a:solidFill>
              <a:effectLst/>
              <a:latin typeface="+mn-lt"/>
              <a:cs typeface="+mn-lt"/>
              <a:sym typeface="等线" panose="02010600030101010101" charset="-122"/>
            </a:endParaRPr>
          </a:p>
          <a:p>
            <a:pPr algn="ctr"/>
            <a:r>
              <a:rPr lang="zh-CN" altLang="en-US" cap="all">
                <a:ln>
                  <a:noFill/>
                </a:ln>
                <a:solidFill>
                  <a:schemeClr val="bg1"/>
                </a:solidFill>
                <a:effectLst/>
                <a:latin typeface="+mn-lt"/>
                <a:cs typeface="+mn-lt"/>
                <a:sym typeface="等线" panose="02010600030101010101" charset="-122"/>
              </a:rPr>
              <a:t>赛道</a:t>
            </a:r>
            <a:endParaRPr lang="zh-CN" altLang="en-US" cap="all">
              <a:ln>
                <a:noFill/>
              </a:ln>
              <a:solidFill>
                <a:schemeClr val="bg1"/>
              </a:solidFill>
              <a:effectLst/>
              <a:latin typeface="+mn-lt"/>
              <a:cs typeface="+mn-lt"/>
              <a:sym typeface="等线" panose="02010600030101010101" charset="-122"/>
            </a:endParaRPr>
          </a:p>
        </p:txBody>
      </p:sp>
      <p:sp>
        <p:nvSpPr>
          <p:cNvPr id="1048931" name="文本框 13"/>
          <p:cNvSpPr txBox="1"/>
          <p:nvPr/>
        </p:nvSpPr>
        <p:spPr>
          <a:xfrm>
            <a:off x="5092700" y="4610100"/>
            <a:ext cx="3765550" cy="383540"/>
          </a:xfrm>
          <a:prstGeom prst="rect">
            <a:avLst/>
          </a:prstGeom>
          <a:noFill/>
        </p:spPr>
        <p:txBody>
          <a:bodyPr wrap="none" rtlCol="0">
            <a:spAutoFit/>
          </a:bodyPr>
          <a:p>
            <a:pPr algn="l">
              <a:buClrTx/>
              <a:buSzTx/>
              <a:buFontTx/>
            </a:pPr>
            <a:r>
              <a:rPr lang="zh-CN" altLang="en-US" sz="1900" b="1">
                <a:solidFill>
                  <a:schemeClr val="bg1"/>
                </a:solidFill>
                <a:latin typeface="微软雅黑" charset="-122"/>
                <a:ea typeface="微软雅黑" charset="-122"/>
                <a:cs typeface="微软雅黑" charset="-122"/>
                <a:sym typeface="+mn-ea"/>
              </a:rPr>
              <a:t>赛题8：基于ebpf的容器异常检测</a:t>
            </a:r>
            <a:endParaRPr lang="zh-CN" altLang="en-US" sz="1900" b="1">
              <a:solidFill>
                <a:schemeClr val="bg1"/>
              </a:solidFill>
              <a:latin typeface="微软雅黑" charset="-122"/>
              <a:ea typeface="微软雅黑" charset="-122"/>
              <a:cs typeface="微软雅黑" charset="-122"/>
              <a:sym typeface="+mn-ea"/>
            </a:endParaRPr>
          </a:p>
        </p:txBody>
      </p:sp>
      <p:cxnSp>
        <p:nvCxnSpPr>
          <p:cNvPr id="3145738" name="直接连接符 34"/>
          <p:cNvCxnSpPr/>
          <p:nvPr/>
        </p:nvCxnSpPr>
        <p:spPr>
          <a:xfrm>
            <a:off x="5072380" y="4324350"/>
            <a:ext cx="676021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097350" name="图片 36" descr="资源 2"/>
          <p:cNvPicPr>
            <a:picLocks noChangeAspect="1"/>
          </p:cNvPicPr>
          <p:nvPr/>
        </p:nvPicPr>
        <p:blipFill>
          <a:blip r:embed="rId4"/>
          <a:stretch>
            <a:fillRect/>
          </a:stretch>
        </p:blipFill>
        <p:spPr>
          <a:xfrm>
            <a:off x="693420" y="2161540"/>
            <a:ext cx="3848735" cy="3051175"/>
          </a:xfrm>
          <a:prstGeom prst="rect">
            <a:avLst/>
          </a:prstGeom>
        </p:spPr>
      </p:pic>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56" name="图片 5" descr="未标题-1"/>
          <p:cNvPicPr>
            <a:picLocks noChangeAspect="1"/>
          </p:cNvPicPr>
          <p:nvPr/>
        </p:nvPicPr>
        <p:blipFill>
          <a:blip r:embed="rId1"/>
          <a:stretch>
            <a:fillRect/>
          </a:stretch>
        </p:blipFill>
        <p:spPr>
          <a:xfrm>
            <a:off x="9828530" y="261620"/>
            <a:ext cx="2005965" cy="536575"/>
          </a:xfrm>
          <a:prstGeom prst="rect">
            <a:avLst/>
          </a:prstGeom>
        </p:spPr>
      </p:pic>
      <p:pic>
        <p:nvPicPr>
          <p:cNvPr id="2097373" name="图片 11" descr="C:\Users\Administrator\Desktop\ppt.pngppt"/>
          <p:cNvPicPr>
            <a:picLocks noChangeAspect="1"/>
          </p:cNvPicPr>
          <p:nvPr/>
        </p:nvPicPr>
        <p:blipFill>
          <a:blip r:embed="rId2"/>
          <a:srcRect/>
          <a:stretch>
            <a:fillRect/>
          </a:stretch>
        </p:blipFill>
        <p:spPr>
          <a:xfrm>
            <a:off x="0" y="953"/>
            <a:ext cx="12192000" cy="1057910"/>
          </a:xfrm>
          <a:prstGeom prst="rect">
            <a:avLst/>
          </a:prstGeom>
        </p:spPr>
      </p:pic>
      <p:sp>
        <p:nvSpPr>
          <p:cNvPr id="10" name="文本框 9"/>
          <p:cNvSpPr txBox="1"/>
          <p:nvPr/>
        </p:nvSpPr>
        <p:spPr>
          <a:xfrm>
            <a:off x="370205" y="315595"/>
            <a:ext cx="4080510" cy="583565"/>
          </a:xfrm>
          <a:prstGeom prst="rect">
            <a:avLst/>
          </a:prstGeom>
          <a:noFill/>
        </p:spPr>
        <p:txBody>
          <a:bodyPr wrap="square" rtlCol="0">
            <a:spAutoFit/>
          </a:bodyPr>
          <a:p>
            <a:r>
              <a:rPr lang="zh-CN" altLang="en-US" sz="3200"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rPr>
              <a:t>目录</a:t>
            </a:r>
            <a:r>
              <a:rPr lang="en-US" altLang="zh-CN" sz="3200"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rPr>
              <a:t> </a:t>
            </a:r>
            <a:r>
              <a:rPr lang="en-US" altLang="zh-CN" sz="3200"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rPr>
              <a:t>CONTENTS</a:t>
            </a:r>
            <a:endParaRPr lang="en-US" altLang="zh-CN" sz="3200"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endParaRPr>
          </a:p>
        </p:txBody>
      </p:sp>
      <p:sp>
        <p:nvSpPr>
          <p:cNvPr id="11" name="圆角矩形 10"/>
          <p:cNvSpPr/>
          <p:nvPr/>
        </p:nvSpPr>
        <p:spPr>
          <a:xfrm>
            <a:off x="1637665" y="1492885"/>
            <a:ext cx="8916670" cy="986790"/>
          </a:xfrm>
          <a:prstGeom prst="roundRect">
            <a:avLst/>
          </a:prstGeom>
          <a:solidFill>
            <a:schemeClr val="accent1">
              <a:lumMod val="40000"/>
              <a:lumOff val="60000"/>
            </a:schemeClr>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圆角矩形 11"/>
          <p:cNvSpPr/>
          <p:nvPr/>
        </p:nvSpPr>
        <p:spPr>
          <a:xfrm>
            <a:off x="1644015" y="3330575"/>
            <a:ext cx="8916670" cy="986790"/>
          </a:xfrm>
          <a:prstGeom prst="roundRect">
            <a:avLst/>
          </a:prstGeom>
          <a:solidFill>
            <a:schemeClr val="accent1">
              <a:lumMod val="40000"/>
              <a:lumOff val="60000"/>
            </a:schemeClr>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圆角矩形 12"/>
          <p:cNvSpPr/>
          <p:nvPr/>
        </p:nvSpPr>
        <p:spPr>
          <a:xfrm>
            <a:off x="1637030" y="5168265"/>
            <a:ext cx="8916670" cy="986790"/>
          </a:xfrm>
          <a:prstGeom prst="roundRect">
            <a:avLst/>
          </a:prstGeom>
          <a:solidFill>
            <a:schemeClr val="accent1">
              <a:lumMod val="40000"/>
              <a:lumOff val="60000"/>
            </a:schemeClr>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nvSpPr>
        <p:spPr>
          <a:xfrm>
            <a:off x="1917700" y="1710690"/>
            <a:ext cx="8368665" cy="521970"/>
          </a:xfrm>
          <a:prstGeom prst="rect">
            <a:avLst/>
          </a:prstGeom>
          <a:noFill/>
        </p:spPr>
        <p:txBody>
          <a:bodyPr wrap="square" rtlCol="0">
            <a:spAutoFit/>
          </a:bodyPr>
          <a:p>
            <a:r>
              <a:rPr lang="en-US" altLang="zh-CN" sz="2800">
                <a:latin typeface="微软雅黑" charset="0"/>
                <a:ea typeface="微软雅黑" charset="0"/>
                <a:cs typeface="微软雅黑" charset="0"/>
              </a:rPr>
              <a:t>·</a:t>
            </a:r>
            <a:r>
              <a:rPr lang="zh-CN" altLang="en-US" sz="2800">
                <a:latin typeface="微软雅黑" charset="0"/>
                <a:ea typeface="微软雅黑" charset="0"/>
                <a:cs typeface="微软雅黑" charset="0"/>
              </a:rPr>
              <a:t>背景介绍</a:t>
            </a:r>
            <a:endParaRPr lang="zh-CN" altLang="en-US" sz="2800">
              <a:latin typeface="微软雅黑" charset="0"/>
              <a:ea typeface="微软雅黑" charset="0"/>
              <a:cs typeface="微软雅黑" charset="0"/>
            </a:endParaRPr>
          </a:p>
        </p:txBody>
      </p:sp>
      <p:sp>
        <p:nvSpPr>
          <p:cNvPr id="2" name="文本框 1"/>
          <p:cNvSpPr txBox="1"/>
          <p:nvPr/>
        </p:nvSpPr>
        <p:spPr>
          <a:xfrm>
            <a:off x="2005330" y="3589020"/>
            <a:ext cx="8362315" cy="521970"/>
          </a:xfrm>
          <a:prstGeom prst="rect">
            <a:avLst/>
          </a:prstGeom>
          <a:noFill/>
        </p:spPr>
        <p:txBody>
          <a:bodyPr wrap="square" rtlCol="0">
            <a:spAutoFit/>
          </a:bodyPr>
          <a:p>
            <a:r>
              <a:rPr lang="en-US" altLang="zh-CN" sz="2800">
                <a:latin typeface="微软雅黑" charset="0"/>
                <a:ea typeface="微软雅黑" charset="0"/>
                <a:cs typeface="微软雅黑" charset="0"/>
                <a:sym typeface="+mn-ea"/>
              </a:rPr>
              <a:t>·</a:t>
            </a:r>
            <a:r>
              <a:rPr lang="zh-CN" altLang="en-US" sz="2800">
                <a:latin typeface="微软雅黑" charset="0"/>
                <a:ea typeface="微软雅黑" charset="0"/>
                <a:cs typeface="微软雅黑" charset="0"/>
                <a:sym typeface="+mn-ea"/>
              </a:rPr>
              <a:t>项目</a:t>
            </a:r>
            <a:r>
              <a:rPr lang="zh-CN" altLang="en-US" sz="2800">
                <a:latin typeface="微软雅黑" charset="0"/>
                <a:ea typeface="微软雅黑" charset="0"/>
                <a:cs typeface="微软雅黑" charset="0"/>
                <a:sym typeface="+mn-ea"/>
              </a:rPr>
              <a:t>内容</a:t>
            </a:r>
            <a:endParaRPr lang="zh-CN" altLang="en-US" sz="2800">
              <a:latin typeface="微软雅黑" charset="0"/>
              <a:ea typeface="微软雅黑" charset="0"/>
              <a:cs typeface="微软雅黑" charset="0"/>
              <a:sym typeface="+mn-ea"/>
            </a:endParaRPr>
          </a:p>
        </p:txBody>
      </p:sp>
      <p:sp>
        <p:nvSpPr>
          <p:cNvPr id="4" name="文本框 3"/>
          <p:cNvSpPr txBox="1"/>
          <p:nvPr/>
        </p:nvSpPr>
        <p:spPr>
          <a:xfrm>
            <a:off x="2024380" y="5401945"/>
            <a:ext cx="8141335" cy="521970"/>
          </a:xfrm>
          <a:prstGeom prst="rect">
            <a:avLst/>
          </a:prstGeom>
          <a:noFill/>
        </p:spPr>
        <p:txBody>
          <a:bodyPr wrap="square" rtlCol="0">
            <a:spAutoFit/>
          </a:bodyPr>
          <a:p>
            <a:r>
              <a:rPr lang="en-US" altLang="zh-CN" sz="2800">
                <a:latin typeface="微软雅黑" charset="0"/>
                <a:ea typeface="微软雅黑" charset="0"/>
                <a:cs typeface="微软雅黑" charset="0"/>
                <a:sym typeface="+mn-ea"/>
              </a:rPr>
              <a:t>·</a:t>
            </a:r>
            <a:r>
              <a:rPr lang="zh-CN" altLang="en-US" sz="2800">
                <a:latin typeface="微软雅黑" charset="0"/>
                <a:ea typeface="微软雅黑" charset="0"/>
                <a:cs typeface="微软雅黑" charset="0"/>
                <a:sym typeface="+mn-ea"/>
              </a:rPr>
              <a:t>效果</a:t>
            </a:r>
            <a:r>
              <a:rPr lang="zh-CN" altLang="en-US" sz="2800">
                <a:latin typeface="微软雅黑" charset="0"/>
                <a:ea typeface="微软雅黑" charset="0"/>
                <a:cs typeface="微软雅黑" charset="0"/>
                <a:sym typeface="+mn-ea"/>
              </a:rPr>
              <a:t>展示</a:t>
            </a:r>
            <a:endParaRPr lang="zh-CN" altLang="en-US" sz="2800">
              <a:latin typeface="微软雅黑" charset="0"/>
              <a:ea typeface="微软雅黑" charset="0"/>
              <a:cs typeface="微软雅黑"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56" name="图片 5" descr="未标题-1"/>
          <p:cNvPicPr>
            <a:picLocks noChangeAspect="1"/>
          </p:cNvPicPr>
          <p:nvPr/>
        </p:nvPicPr>
        <p:blipFill>
          <a:blip r:embed="rId1"/>
          <a:stretch>
            <a:fillRect/>
          </a:stretch>
        </p:blipFill>
        <p:spPr>
          <a:xfrm>
            <a:off x="9828530" y="261620"/>
            <a:ext cx="2005965" cy="536575"/>
          </a:xfrm>
          <a:prstGeom prst="rect">
            <a:avLst/>
          </a:prstGeom>
        </p:spPr>
      </p:pic>
      <p:pic>
        <p:nvPicPr>
          <p:cNvPr id="2097373" name="图片 11" descr="C:\Users\Administrator\Desktop\ppt.pngppt"/>
          <p:cNvPicPr>
            <a:picLocks noChangeAspect="1"/>
          </p:cNvPicPr>
          <p:nvPr/>
        </p:nvPicPr>
        <p:blipFill>
          <a:blip r:embed="rId2"/>
          <a:srcRect/>
          <a:stretch>
            <a:fillRect/>
          </a:stretch>
        </p:blipFill>
        <p:spPr>
          <a:xfrm>
            <a:off x="0" y="14288"/>
            <a:ext cx="12192000" cy="1057910"/>
          </a:xfrm>
          <a:prstGeom prst="rect">
            <a:avLst/>
          </a:prstGeom>
        </p:spPr>
      </p:pic>
      <p:sp>
        <p:nvSpPr>
          <p:cNvPr id="11" name="圆角矩形 10"/>
          <p:cNvSpPr/>
          <p:nvPr/>
        </p:nvSpPr>
        <p:spPr>
          <a:xfrm>
            <a:off x="370205" y="1340485"/>
            <a:ext cx="2868295" cy="715645"/>
          </a:xfrm>
          <a:prstGeom prst="roundRect">
            <a:avLst/>
          </a:prstGeom>
          <a:solidFill>
            <a:schemeClr val="accent1">
              <a:lumMod val="40000"/>
              <a:lumOff val="60000"/>
            </a:schemeClr>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nvSpPr>
        <p:spPr>
          <a:xfrm>
            <a:off x="477520" y="1437640"/>
            <a:ext cx="2120900" cy="521970"/>
          </a:xfrm>
          <a:prstGeom prst="rect">
            <a:avLst/>
          </a:prstGeom>
          <a:noFill/>
        </p:spPr>
        <p:txBody>
          <a:bodyPr wrap="square" rtlCol="0">
            <a:spAutoFit/>
          </a:bodyPr>
          <a:p>
            <a:r>
              <a:rPr lang="en-US" altLang="zh-CN" sz="2800">
                <a:latin typeface="微软雅黑" charset="0"/>
                <a:ea typeface="微软雅黑" charset="0"/>
                <a:cs typeface="微软雅黑" charset="0"/>
              </a:rPr>
              <a:t>·</a:t>
            </a:r>
            <a:r>
              <a:rPr lang="zh-CN" altLang="en-US" sz="2800">
                <a:latin typeface="微软雅黑" charset="0"/>
                <a:ea typeface="微软雅黑" charset="0"/>
                <a:cs typeface="微软雅黑" charset="0"/>
              </a:rPr>
              <a:t>背景介绍</a:t>
            </a:r>
            <a:endParaRPr lang="zh-CN" altLang="en-US" sz="2800">
              <a:latin typeface="微软雅黑" charset="0"/>
              <a:ea typeface="微软雅黑" charset="0"/>
              <a:cs typeface="微软雅黑" charset="0"/>
            </a:endParaRPr>
          </a:p>
        </p:txBody>
      </p:sp>
      <p:sp>
        <p:nvSpPr>
          <p:cNvPr id="2" name="圆角矩形 1"/>
          <p:cNvSpPr/>
          <p:nvPr/>
        </p:nvSpPr>
        <p:spPr>
          <a:xfrm>
            <a:off x="477520" y="2338705"/>
            <a:ext cx="11146790" cy="4038600"/>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文本框 2"/>
          <p:cNvSpPr txBox="1"/>
          <p:nvPr/>
        </p:nvSpPr>
        <p:spPr>
          <a:xfrm>
            <a:off x="948690" y="2695575"/>
            <a:ext cx="10228580" cy="3138170"/>
          </a:xfrm>
          <a:prstGeom prst="rect">
            <a:avLst/>
          </a:prstGeom>
          <a:noFill/>
        </p:spPr>
        <p:txBody>
          <a:bodyPr wrap="square" rtlCol="0">
            <a:spAutoFit/>
          </a:bodyPr>
          <a:p>
            <a:r>
              <a:rPr lang="zh-CN" altLang="en-US">
                <a:sym typeface="+mn-ea"/>
              </a:rPr>
              <a:t>容器技术通过共享主机操作系统的内核，实现轻量的资源虚拟化和隔离，</a:t>
            </a:r>
            <a:r>
              <a:rPr lang="zh-CN" altLang="en-US"/>
              <a:t>在云计算中越来越受欢迎。最近的研究表明，在各种工作负载下，容器在CPU、内存和输入输出方面实现了接近原生性能。</a:t>
            </a:r>
            <a:r>
              <a:rPr lang="zh-CN" altLang="en-US">
                <a:sym typeface="+mn-ea"/>
              </a:rPr>
              <a:t>近年来在DevOps、微服务等领域有着广泛的应用。</a:t>
            </a:r>
            <a:r>
              <a:rPr lang="zh-CN" altLang="en-US"/>
              <a:t>虽然容器的轻量级隔离机制带来了开销优势，但是隔离不足也会导致容器异常。</a:t>
            </a:r>
            <a:r>
              <a:rPr lang="zh-CN" altLang="en-US">
                <a:sym typeface="+mn-ea"/>
              </a:rPr>
              <a:t>然而在容器技术被广泛接受和使用的同时，容器以及容器运行环境的安全成为了亟待研究和解决的问题，诸如容器逃逸、容器间网络攻击等</a:t>
            </a:r>
            <a:endParaRPr lang="zh-CN" altLang="en-US">
              <a:sym typeface="+mn-ea"/>
            </a:endParaRPr>
          </a:p>
          <a:p>
            <a:endParaRPr lang="zh-CN" altLang="en-US"/>
          </a:p>
          <a:p>
            <a:endParaRPr lang="zh-CN" altLang="en-US"/>
          </a:p>
          <a:p>
            <a:r>
              <a:rPr lang="zh-CN" altLang="en-US"/>
              <a:t>eBPF（extended Berkeley Packet Filter）是一种内核技术，</a:t>
            </a:r>
            <a:r>
              <a:rPr lang="zh-CN" altLang="en-US">
                <a:sym typeface="+mn-ea"/>
              </a:rPr>
              <a:t>它能够在不修改内核代码的情况下，动态加载和执行代码，从而支持各种网络、性能、安全和监控功能。这种能力使得 eBPF 成为现代 Linux 系统中一个重要的工具，用于实现高效的系统管理和优化。</a:t>
            </a:r>
            <a:endParaRPr lang="zh-CN" altLang="en-US"/>
          </a:p>
          <a:p>
            <a:r>
              <a:rPr lang="zh-CN" altLang="en-US"/>
              <a:t>eBPF强大的</a:t>
            </a:r>
            <a:r>
              <a:rPr lang="zh-CN" altLang="en-US">
                <a:sym typeface="+mn-ea"/>
              </a:rPr>
              <a:t>灵活性和性能优势</a:t>
            </a:r>
            <a:r>
              <a:rPr lang="zh-CN" altLang="en-US"/>
              <a:t>也为容器异常检测提供了更多的机会。</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2" name="直接连接符 11"/>
          <p:cNvCxnSpPr>
            <a:stCxn id="9" idx="3"/>
          </p:cNvCxnSpPr>
          <p:nvPr/>
        </p:nvCxnSpPr>
        <p:spPr>
          <a:xfrm>
            <a:off x="8905875" y="1774825"/>
            <a:ext cx="49212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pic>
        <p:nvPicPr>
          <p:cNvPr id="2097373" name="图片 11" descr="C:\Users\Administrator\Desktop\ppt.pngppt"/>
          <p:cNvPicPr>
            <a:picLocks noChangeAspect="1"/>
          </p:cNvPicPr>
          <p:nvPr/>
        </p:nvPicPr>
        <p:blipFill>
          <a:blip r:embed="rId1"/>
          <a:srcRect/>
          <a:stretch>
            <a:fillRect/>
          </a:stretch>
        </p:blipFill>
        <p:spPr>
          <a:xfrm>
            <a:off x="0" y="14288"/>
            <a:ext cx="12192000" cy="1057910"/>
          </a:xfrm>
          <a:prstGeom prst="rect">
            <a:avLst/>
          </a:prstGeom>
        </p:spPr>
      </p:pic>
      <p:pic>
        <p:nvPicPr>
          <p:cNvPr id="2097374" name="图片 5" descr="未标题-1"/>
          <p:cNvPicPr>
            <a:picLocks noChangeAspect="1"/>
          </p:cNvPicPr>
          <p:nvPr/>
        </p:nvPicPr>
        <p:blipFill>
          <a:blip r:embed="rId2"/>
          <a:stretch>
            <a:fillRect/>
          </a:stretch>
        </p:blipFill>
        <p:spPr>
          <a:xfrm>
            <a:off x="9830435" y="261620"/>
            <a:ext cx="2005965" cy="536575"/>
          </a:xfrm>
          <a:prstGeom prst="rect">
            <a:avLst/>
          </a:prstGeom>
        </p:spPr>
      </p:pic>
      <p:sp>
        <p:nvSpPr>
          <p:cNvPr id="5" name="圆角矩形 4"/>
          <p:cNvSpPr/>
          <p:nvPr/>
        </p:nvSpPr>
        <p:spPr>
          <a:xfrm>
            <a:off x="313690" y="1464310"/>
            <a:ext cx="2099945" cy="518160"/>
          </a:xfrm>
          <a:prstGeom prst="roundRect">
            <a:avLst/>
          </a:prstGeom>
          <a:solidFill>
            <a:schemeClr val="accent1">
              <a:lumMod val="40000"/>
              <a:lumOff val="6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471805" y="1541145"/>
            <a:ext cx="1783715" cy="337185"/>
          </a:xfrm>
          <a:prstGeom prst="rect">
            <a:avLst/>
          </a:prstGeom>
          <a:noFill/>
        </p:spPr>
        <p:txBody>
          <a:bodyPr wrap="square" rtlCol="0">
            <a:spAutoFit/>
          </a:bodyPr>
          <a:p>
            <a:r>
              <a:rPr lang="en-US" altLang="zh-CN" sz="1600">
                <a:cs typeface="+mn-lt"/>
              </a:rPr>
              <a:t>eBPF</a:t>
            </a:r>
            <a:r>
              <a:rPr lang="zh-CN" altLang="en-US" sz="1600">
                <a:cs typeface="+mn-lt"/>
              </a:rPr>
              <a:t>工作原理</a:t>
            </a:r>
            <a:endParaRPr lang="zh-CN" altLang="en-US" sz="1600">
              <a:cs typeface="+mn-lt"/>
            </a:endParaRPr>
          </a:p>
        </p:txBody>
      </p:sp>
      <p:sp>
        <p:nvSpPr>
          <p:cNvPr id="7" name="圆角矩形 6"/>
          <p:cNvSpPr/>
          <p:nvPr/>
        </p:nvSpPr>
        <p:spPr>
          <a:xfrm>
            <a:off x="7233285" y="3096260"/>
            <a:ext cx="1672590" cy="466725"/>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圆角矩形 7"/>
          <p:cNvSpPr/>
          <p:nvPr/>
        </p:nvSpPr>
        <p:spPr>
          <a:xfrm>
            <a:off x="7233285" y="4469130"/>
            <a:ext cx="1672590" cy="466725"/>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圆角矩形 8"/>
          <p:cNvSpPr/>
          <p:nvPr/>
        </p:nvSpPr>
        <p:spPr>
          <a:xfrm>
            <a:off x="7233285" y="1541145"/>
            <a:ext cx="1672590" cy="466725"/>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文本框 10"/>
          <p:cNvSpPr txBox="1"/>
          <p:nvPr/>
        </p:nvSpPr>
        <p:spPr>
          <a:xfrm>
            <a:off x="7402195" y="1621155"/>
            <a:ext cx="1334770" cy="306705"/>
          </a:xfrm>
          <a:prstGeom prst="rect">
            <a:avLst/>
          </a:prstGeom>
          <a:noFill/>
        </p:spPr>
        <p:txBody>
          <a:bodyPr wrap="square" rtlCol="0">
            <a:spAutoFit/>
          </a:bodyPr>
          <a:p>
            <a:r>
              <a:rPr lang="zh-CN" altLang="en-US" sz="1400"/>
              <a:t>编写</a:t>
            </a:r>
            <a:r>
              <a:rPr lang="en-US" altLang="zh-CN" sz="1400"/>
              <a:t>eBPF</a:t>
            </a:r>
            <a:r>
              <a:rPr lang="zh-CN" altLang="en-US" sz="1400"/>
              <a:t>程序</a:t>
            </a:r>
            <a:endParaRPr lang="zh-CN" altLang="en-US" sz="1400"/>
          </a:p>
        </p:txBody>
      </p:sp>
      <p:sp>
        <p:nvSpPr>
          <p:cNvPr id="13" name="圆角矩形 12"/>
          <p:cNvSpPr/>
          <p:nvPr/>
        </p:nvSpPr>
        <p:spPr>
          <a:xfrm>
            <a:off x="9424035" y="1541780"/>
            <a:ext cx="2385695" cy="945515"/>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圆角矩形 13"/>
          <p:cNvSpPr/>
          <p:nvPr/>
        </p:nvSpPr>
        <p:spPr>
          <a:xfrm>
            <a:off x="9450070" y="2964815"/>
            <a:ext cx="2386330" cy="945515"/>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圆角矩形 14"/>
          <p:cNvSpPr/>
          <p:nvPr/>
        </p:nvSpPr>
        <p:spPr>
          <a:xfrm>
            <a:off x="9430385" y="4491990"/>
            <a:ext cx="2385695" cy="945515"/>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nvSpPr>
        <p:spPr>
          <a:xfrm>
            <a:off x="9657715" y="1645920"/>
            <a:ext cx="1918335" cy="737235"/>
          </a:xfrm>
          <a:prstGeom prst="rect">
            <a:avLst/>
          </a:prstGeom>
          <a:noFill/>
        </p:spPr>
        <p:txBody>
          <a:bodyPr wrap="square" rtlCol="0">
            <a:spAutoFit/>
          </a:bodyPr>
          <a:p>
            <a:r>
              <a:rPr lang="en-US" altLang="zh-CN" sz="1400"/>
              <a:t>C/Python</a:t>
            </a:r>
            <a:r>
              <a:rPr lang="zh-CN" altLang="en-US" sz="1400"/>
              <a:t>语言</a:t>
            </a:r>
            <a:endParaRPr lang="zh-CN" altLang="en-US" sz="1400"/>
          </a:p>
          <a:p>
            <a:r>
              <a:rPr lang="zh-CN" altLang="en-US" sz="1400"/>
              <a:t>特定的接口访问内核的数据结构</a:t>
            </a:r>
            <a:endParaRPr lang="zh-CN" altLang="en-US" sz="1400"/>
          </a:p>
        </p:txBody>
      </p:sp>
      <p:cxnSp>
        <p:nvCxnSpPr>
          <p:cNvPr id="19" name="直接连接符 18"/>
          <p:cNvCxnSpPr/>
          <p:nvPr/>
        </p:nvCxnSpPr>
        <p:spPr>
          <a:xfrm>
            <a:off x="8931910" y="3329940"/>
            <a:ext cx="49212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931910" y="4702810"/>
            <a:ext cx="49212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7723505" y="3176270"/>
            <a:ext cx="1182370" cy="306705"/>
          </a:xfrm>
          <a:prstGeom prst="rect">
            <a:avLst/>
          </a:prstGeom>
          <a:noFill/>
        </p:spPr>
        <p:txBody>
          <a:bodyPr wrap="square" rtlCol="0">
            <a:spAutoFit/>
          </a:bodyPr>
          <a:p>
            <a:r>
              <a:rPr lang="zh-CN" altLang="en-US" sz="1400"/>
              <a:t>编译</a:t>
            </a:r>
            <a:endParaRPr lang="zh-CN" altLang="en-US" sz="1400"/>
          </a:p>
        </p:txBody>
      </p:sp>
      <p:sp>
        <p:nvSpPr>
          <p:cNvPr id="22" name="文本框 21"/>
          <p:cNvSpPr txBox="1"/>
          <p:nvPr/>
        </p:nvSpPr>
        <p:spPr>
          <a:xfrm>
            <a:off x="7723505" y="4549775"/>
            <a:ext cx="751840" cy="306705"/>
          </a:xfrm>
          <a:prstGeom prst="rect">
            <a:avLst/>
          </a:prstGeom>
          <a:noFill/>
        </p:spPr>
        <p:txBody>
          <a:bodyPr wrap="square" rtlCol="0">
            <a:spAutoFit/>
          </a:bodyPr>
          <a:p>
            <a:r>
              <a:rPr lang="zh-CN" altLang="en-US" sz="1400"/>
              <a:t>运行</a:t>
            </a:r>
            <a:endParaRPr lang="zh-CN" altLang="en-US" sz="1400"/>
          </a:p>
        </p:txBody>
      </p:sp>
      <p:cxnSp>
        <p:nvCxnSpPr>
          <p:cNvPr id="23" name="直接箭头连接符 22"/>
          <p:cNvCxnSpPr>
            <a:stCxn id="9" idx="2"/>
            <a:endCxn id="7" idx="0"/>
          </p:cNvCxnSpPr>
          <p:nvPr/>
        </p:nvCxnSpPr>
        <p:spPr>
          <a:xfrm>
            <a:off x="8069580" y="2007870"/>
            <a:ext cx="0" cy="10883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7" idx="2"/>
            <a:endCxn id="8" idx="0"/>
          </p:cNvCxnSpPr>
          <p:nvPr/>
        </p:nvCxnSpPr>
        <p:spPr>
          <a:xfrm>
            <a:off x="8069580" y="3562985"/>
            <a:ext cx="0" cy="9061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9657715" y="3096260"/>
            <a:ext cx="1971040" cy="737235"/>
          </a:xfrm>
          <a:prstGeom prst="rect">
            <a:avLst/>
          </a:prstGeom>
          <a:noFill/>
        </p:spPr>
        <p:txBody>
          <a:bodyPr wrap="square" rtlCol="0">
            <a:spAutoFit/>
          </a:bodyPr>
          <a:p>
            <a:r>
              <a:rPr lang="en-US" altLang="zh-CN" sz="1400"/>
              <a:t>Clang/LLVM--&gt;</a:t>
            </a:r>
            <a:r>
              <a:rPr lang="zh-CN" altLang="en-US" sz="1400"/>
              <a:t>字节码</a:t>
            </a:r>
            <a:endParaRPr lang="zh-CN" altLang="en-US" sz="1400"/>
          </a:p>
          <a:p>
            <a:r>
              <a:rPr lang="zh-CN" altLang="en-US" sz="1400"/>
              <a:t>将用户态字节码装载入</a:t>
            </a:r>
            <a:r>
              <a:rPr lang="zh-CN" altLang="en-US" sz="1400"/>
              <a:t>内核</a:t>
            </a:r>
            <a:endParaRPr lang="zh-CN" altLang="en-US" sz="1400"/>
          </a:p>
        </p:txBody>
      </p:sp>
      <p:sp>
        <p:nvSpPr>
          <p:cNvPr id="26" name="文本框 25"/>
          <p:cNvSpPr txBox="1"/>
          <p:nvPr/>
        </p:nvSpPr>
        <p:spPr>
          <a:xfrm>
            <a:off x="9677400" y="4596130"/>
            <a:ext cx="1931035" cy="737235"/>
          </a:xfrm>
          <a:prstGeom prst="rect">
            <a:avLst/>
          </a:prstGeom>
          <a:noFill/>
        </p:spPr>
        <p:txBody>
          <a:bodyPr wrap="square" rtlCol="0">
            <a:spAutoFit/>
          </a:bodyPr>
          <a:p>
            <a:r>
              <a:rPr lang="en-US" altLang="zh-CN" sz="1400"/>
              <a:t>eBPF</a:t>
            </a:r>
            <a:r>
              <a:rPr lang="zh-CN" altLang="en-US" sz="1400"/>
              <a:t>程序挂载到内核</a:t>
            </a:r>
            <a:r>
              <a:rPr lang="en-US" altLang="zh-CN" sz="1400"/>
              <a:t>hook</a:t>
            </a:r>
            <a:r>
              <a:rPr lang="zh-CN" altLang="en-US" sz="1400"/>
              <a:t>上，在事件发生时被执行</a:t>
            </a:r>
            <a:endParaRPr lang="zh-CN" altLang="en-US" sz="1400"/>
          </a:p>
        </p:txBody>
      </p:sp>
      <p:cxnSp>
        <p:nvCxnSpPr>
          <p:cNvPr id="27" name="直接箭头连接符 26"/>
          <p:cNvCxnSpPr/>
          <p:nvPr/>
        </p:nvCxnSpPr>
        <p:spPr>
          <a:xfrm>
            <a:off x="8069580" y="4936490"/>
            <a:ext cx="0" cy="7327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圆角矩形 27"/>
          <p:cNvSpPr/>
          <p:nvPr/>
        </p:nvSpPr>
        <p:spPr>
          <a:xfrm>
            <a:off x="7233285" y="5669915"/>
            <a:ext cx="1698625" cy="736600"/>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文本框 28"/>
          <p:cNvSpPr txBox="1"/>
          <p:nvPr/>
        </p:nvSpPr>
        <p:spPr>
          <a:xfrm>
            <a:off x="7453630" y="5811520"/>
            <a:ext cx="1270635" cy="521970"/>
          </a:xfrm>
          <a:prstGeom prst="rect">
            <a:avLst/>
          </a:prstGeom>
          <a:noFill/>
        </p:spPr>
        <p:txBody>
          <a:bodyPr wrap="square" rtlCol="0">
            <a:spAutoFit/>
          </a:bodyPr>
          <a:p>
            <a:r>
              <a:rPr lang="zh-CN" altLang="en-US" sz="1400"/>
              <a:t>网络、性能、监控功能</a:t>
            </a:r>
            <a:endParaRPr lang="zh-CN" altLang="en-US" sz="1400"/>
          </a:p>
        </p:txBody>
      </p:sp>
      <p:pic>
        <p:nvPicPr>
          <p:cNvPr id="2" name="图片 1" descr="image17_eBPF用户态代码"/>
          <p:cNvPicPr>
            <a:picLocks noChangeAspect="1"/>
          </p:cNvPicPr>
          <p:nvPr/>
        </p:nvPicPr>
        <p:blipFill>
          <a:blip r:embed="rId3"/>
          <a:stretch>
            <a:fillRect/>
          </a:stretch>
        </p:blipFill>
        <p:spPr>
          <a:xfrm>
            <a:off x="227965" y="2395855"/>
            <a:ext cx="6656070" cy="36061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56" name="图片 5" descr="未标题-1"/>
          <p:cNvPicPr>
            <a:picLocks noChangeAspect="1"/>
          </p:cNvPicPr>
          <p:nvPr/>
        </p:nvPicPr>
        <p:blipFill>
          <a:blip r:embed="rId1"/>
          <a:stretch>
            <a:fillRect/>
          </a:stretch>
        </p:blipFill>
        <p:spPr>
          <a:xfrm>
            <a:off x="9828530" y="261620"/>
            <a:ext cx="2005965" cy="536575"/>
          </a:xfrm>
          <a:prstGeom prst="rect">
            <a:avLst/>
          </a:prstGeom>
        </p:spPr>
      </p:pic>
      <p:pic>
        <p:nvPicPr>
          <p:cNvPr id="2097373" name="图片 11" descr="C:\Users\Administrator\Desktop\ppt.pngppt"/>
          <p:cNvPicPr>
            <a:picLocks noChangeAspect="1"/>
          </p:cNvPicPr>
          <p:nvPr/>
        </p:nvPicPr>
        <p:blipFill>
          <a:blip r:embed="rId2"/>
          <a:srcRect/>
          <a:stretch>
            <a:fillRect/>
          </a:stretch>
        </p:blipFill>
        <p:spPr>
          <a:xfrm>
            <a:off x="0" y="953"/>
            <a:ext cx="12192000" cy="1057910"/>
          </a:xfrm>
          <a:prstGeom prst="rect">
            <a:avLst/>
          </a:prstGeom>
        </p:spPr>
      </p:pic>
      <p:sp>
        <p:nvSpPr>
          <p:cNvPr id="11" name="圆角矩形 10"/>
          <p:cNvSpPr/>
          <p:nvPr/>
        </p:nvSpPr>
        <p:spPr>
          <a:xfrm>
            <a:off x="370205" y="1340485"/>
            <a:ext cx="2868295" cy="715645"/>
          </a:xfrm>
          <a:prstGeom prst="roundRect">
            <a:avLst/>
          </a:prstGeom>
          <a:solidFill>
            <a:schemeClr val="accent1">
              <a:lumMod val="40000"/>
              <a:lumOff val="60000"/>
            </a:schemeClr>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nvSpPr>
        <p:spPr>
          <a:xfrm>
            <a:off x="477520" y="1437640"/>
            <a:ext cx="2120900" cy="521970"/>
          </a:xfrm>
          <a:prstGeom prst="rect">
            <a:avLst/>
          </a:prstGeom>
          <a:noFill/>
        </p:spPr>
        <p:txBody>
          <a:bodyPr wrap="square" rtlCol="0">
            <a:spAutoFit/>
          </a:bodyPr>
          <a:p>
            <a:r>
              <a:rPr lang="en-US" altLang="zh-CN" sz="2800">
                <a:latin typeface="微软雅黑" charset="0"/>
                <a:ea typeface="微软雅黑" charset="0"/>
                <a:cs typeface="微软雅黑" charset="0"/>
              </a:rPr>
              <a:t>·</a:t>
            </a:r>
            <a:r>
              <a:rPr lang="zh-CN" altLang="en-US" sz="2800">
                <a:latin typeface="微软雅黑" charset="0"/>
                <a:ea typeface="微软雅黑" charset="0"/>
                <a:cs typeface="微软雅黑" charset="0"/>
              </a:rPr>
              <a:t>项目</a:t>
            </a:r>
            <a:r>
              <a:rPr lang="zh-CN" altLang="en-US" sz="2800">
                <a:latin typeface="微软雅黑" charset="0"/>
                <a:ea typeface="微软雅黑" charset="0"/>
                <a:cs typeface="微软雅黑" charset="0"/>
              </a:rPr>
              <a:t>内容</a:t>
            </a:r>
            <a:endParaRPr lang="zh-CN" altLang="en-US" sz="2800">
              <a:latin typeface="微软雅黑" charset="0"/>
              <a:ea typeface="微软雅黑" charset="0"/>
              <a:cs typeface="微软雅黑" charset="0"/>
            </a:endParaRPr>
          </a:p>
        </p:txBody>
      </p:sp>
      <p:sp>
        <p:nvSpPr>
          <p:cNvPr id="2" name="圆角矩形 1"/>
          <p:cNvSpPr/>
          <p:nvPr/>
        </p:nvSpPr>
        <p:spPr>
          <a:xfrm>
            <a:off x="477520" y="2338705"/>
            <a:ext cx="11146790" cy="4038600"/>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文本框 2"/>
          <p:cNvSpPr txBox="1"/>
          <p:nvPr/>
        </p:nvSpPr>
        <p:spPr>
          <a:xfrm>
            <a:off x="948690" y="2695575"/>
            <a:ext cx="10228580" cy="3415030"/>
          </a:xfrm>
          <a:prstGeom prst="rect">
            <a:avLst/>
          </a:prstGeom>
          <a:noFill/>
        </p:spPr>
        <p:txBody>
          <a:bodyPr wrap="square" rtlCol="0">
            <a:spAutoFit/>
          </a:bodyPr>
          <a:p>
            <a:r>
              <a:rPr lang="zh-CN" altLang="en-US"/>
              <a:t>ContGuard是一个基于eBPF技术的容器行为观测工具。</a:t>
            </a:r>
            <a:endParaRPr lang="zh-CN" altLang="en-US"/>
          </a:p>
          <a:p>
            <a:endParaRPr lang="zh-CN" altLang="en-US"/>
          </a:p>
          <a:p>
            <a:r>
              <a:rPr lang="zh-CN" altLang="en-US"/>
              <a:t>为了帮助解决</a:t>
            </a:r>
            <a:r>
              <a:rPr lang="zh-CN" altLang="en-US"/>
              <a:t>容器异常问题，我们基于Linux内核中的eBPF技术，打造了一个可以动态观测容器行为的工具ContGuard。通过eBPF技术，ContGuard可以实现对容器的无侵入式的动态观测，包括容器所使用的系统调用、对文件的访问、进程的执行、容器间网络互访等，收集到的信息经过分析后可通过Seccomp等工具对容器进行更细粒度的权限控制，保证容器的运行安全，最后借助借助grafana等UI系统，实现各种数据的汇总展示以及异常容器检测时的分析流程展示。</a:t>
            </a:r>
            <a:endParaRPr lang="zh-CN" altLang="en-US"/>
          </a:p>
          <a:p>
            <a:endParaRPr lang="zh-CN" altLang="en-US"/>
          </a:p>
          <a:p>
            <a:r>
              <a:rPr lang="zh-CN" altLang="en-US"/>
              <a:t>本项目旨在通过ebpf实现容器异常检测框架。该框架通过ebpf收集容器的行为特征（例如系统调用频率、系统调用序列、文件访问、网络通信等活动）、指标特征（例如IO吞吐、内存利用率、CPU利用率等）等数据，采用人工智能算法自动识别具有异常行为的容器。检测的容器异常行为包括：可疑的系统调用、未经授权的容器互访、容器内异常进程的创建、异常的资源使用量等。</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74" name="图片 5" descr="未标题-1"/>
          <p:cNvPicPr>
            <a:picLocks noChangeAspect="1"/>
          </p:cNvPicPr>
          <p:nvPr/>
        </p:nvPicPr>
        <p:blipFill>
          <a:blip r:embed="rId1"/>
          <a:stretch>
            <a:fillRect/>
          </a:stretch>
        </p:blipFill>
        <p:spPr>
          <a:xfrm>
            <a:off x="9830435" y="261620"/>
            <a:ext cx="2005965" cy="536575"/>
          </a:xfrm>
          <a:prstGeom prst="rect">
            <a:avLst/>
          </a:prstGeom>
        </p:spPr>
      </p:pic>
      <p:pic>
        <p:nvPicPr>
          <p:cNvPr id="2097373" name="图片 11" descr="C:\Users\Administrator\Desktop\ppt.pngppt"/>
          <p:cNvPicPr>
            <a:picLocks noChangeAspect="1"/>
          </p:cNvPicPr>
          <p:nvPr/>
        </p:nvPicPr>
        <p:blipFill>
          <a:blip r:embed="rId2"/>
          <a:srcRect/>
          <a:stretch>
            <a:fillRect/>
          </a:stretch>
        </p:blipFill>
        <p:spPr>
          <a:xfrm>
            <a:off x="0" y="953"/>
            <a:ext cx="12192000" cy="1057910"/>
          </a:xfrm>
          <a:prstGeom prst="rect">
            <a:avLst/>
          </a:prstGeom>
        </p:spPr>
      </p:pic>
      <p:pic>
        <p:nvPicPr>
          <p:cNvPr id="4" name="图片 3" descr="logo"/>
          <p:cNvPicPr>
            <a:picLocks noChangeAspect="1"/>
          </p:cNvPicPr>
          <p:nvPr/>
        </p:nvPicPr>
        <p:blipFill>
          <a:blip r:embed="rId3"/>
          <a:stretch>
            <a:fillRect/>
          </a:stretch>
        </p:blipFill>
        <p:spPr>
          <a:xfrm>
            <a:off x="2061845" y="1059180"/>
            <a:ext cx="2162810" cy="1438275"/>
          </a:xfrm>
          <a:prstGeom prst="rect">
            <a:avLst/>
          </a:prstGeom>
        </p:spPr>
      </p:pic>
      <p:sp>
        <p:nvSpPr>
          <p:cNvPr id="19" name="圆角矩形 18"/>
          <p:cNvSpPr/>
          <p:nvPr/>
        </p:nvSpPr>
        <p:spPr>
          <a:xfrm>
            <a:off x="132080" y="1382395"/>
            <a:ext cx="2410460" cy="4800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nvSpPr>
        <p:spPr>
          <a:xfrm>
            <a:off x="236220" y="1464310"/>
            <a:ext cx="2305050" cy="337185"/>
          </a:xfrm>
          <a:prstGeom prst="rect">
            <a:avLst/>
          </a:prstGeom>
          <a:noFill/>
        </p:spPr>
        <p:txBody>
          <a:bodyPr wrap="square" rtlCol="0">
            <a:spAutoFit/>
          </a:bodyPr>
          <a:p>
            <a:r>
              <a:rPr lang="zh-CN" altLang="en-US" sz="1600"/>
              <a:t>动态观测容器行为工具</a:t>
            </a:r>
            <a:endParaRPr lang="zh-CN" altLang="en-US" sz="1600"/>
          </a:p>
        </p:txBody>
      </p:sp>
      <p:sp>
        <p:nvSpPr>
          <p:cNvPr id="7" name="圆角矩形 6"/>
          <p:cNvSpPr/>
          <p:nvPr/>
        </p:nvSpPr>
        <p:spPr>
          <a:xfrm>
            <a:off x="1635760" y="3626485"/>
            <a:ext cx="1970405" cy="4800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圆角矩形 7"/>
          <p:cNvSpPr/>
          <p:nvPr/>
        </p:nvSpPr>
        <p:spPr>
          <a:xfrm>
            <a:off x="1635760" y="2624455"/>
            <a:ext cx="1970405" cy="4800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圆角矩形 8"/>
          <p:cNvSpPr/>
          <p:nvPr/>
        </p:nvSpPr>
        <p:spPr>
          <a:xfrm>
            <a:off x="1635125" y="4669790"/>
            <a:ext cx="1970405" cy="4800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圆角矩形 9"/>
          <p:cNvSpPr/>
          <p:nvPr/>
        </p:nvSpPr>
        <p:spPr>
          <a:xfrm>
            <a:off x="1635125" y="5602605"/>
            <a:ext cx="1970405" cy="4800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1" name="直接连接符 10"/>
          <p:cNvCxnSpPr/>
          <p:nvPr/>
        </p:nvCxnSpPr>
        <p:spPr>
          <a:xfrm>
            <a:off x="624205" y="1862455"/>
            <a:ext cx="0" cy="3957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24840" y="2864485"/>
            <a:ext cx="10109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24840" y="3866515"/>
            <a:ext cx="10109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24205" y="4868545"/>
            <a:ext cx="10109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4840" y="5829935"/>
            <a:ext cx="1010920"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985645" y="2694940"/>
            <a:ext cx="1620520" cy="368300"/>
          </a:xfrm>
          <a:prstGeom prst="rect">
            <a:avLst/>
          </a:prstGeom>
          <a:noFill/>
        </p:spPr>
        <p:txBody>
          <a:bodyPr wrap="square" rtlCol="0">
            <a:spAutoFit/>
          </a:bodyPr>
          <a:p>
            <a:r>
              <a:rPr lang="zh-CN" altLang="en-US"/>
              <a:t>系统调用</a:t>
            </a:r>
            <a:endParaRPr lang="zh-CN" altLang="en-US"/>
          </a:p>
        </p:txBody>
      </p:sp>
      <p:sp>
        <p:nvSpPr>
          <p:cNvPr id="17" name="文本框 16"/>
          <p:cNvSpPr txBox="1"/>
          <p:nvPr/>
        </p:nvSpPr>
        <p:spPr>
          <a:xfrm>
            <a:off x="1985645" y="3682365"/>
            <a:ext cx="1179830" cy="368300"/>
          </a:xfrm>
          <a:prstGeom prst="rect">
            <a:avLst/>
          </a:prstGeom>
          <a:noFill/>
        </p:spPr>
        <p:txBody>
          <a:bodyPr wrap="square" rtlCol="0">
            <a:spAutoFit/>
          </a:bodyPr>
          <a:p>
            <a:r>
              <a:rPr lang="zh-CN" altLang="en-US"/>
              <a:t>文件</a:t>
            </a:r>
            <a:r>
              <a:rPr lang="zh-CN" altLang="en-US"/>
              <a:t>访问</a:t>
            </a:r>
            <a:endParaRPr lang="zh-CN" altLang="en-US"/>
          </a:p>
        </p:txBody>
      </p:sp>
      <p:sp>
        <p:nvSpPr>
          <p:cNvPr id="18" name="文本框 17"/>
          <p:cNvSpPr txBox="1"/>
          <p:nvPr/>
        </p:nvSpPr>
        <p:spPr>
          <a:xfrm>
            <a:off x="1986280" y="4730750"/>
            <a:ext cx="1270000" cy="368300"/>
          </a:xfrm>
          <a:prstGeom prst="rect">
            <a:avLst/>
          </a:prstGeom>
          <a:noFill/>
        </p:spPr>
        <p:txBody>
          <a:bodyPr wrap="square" rtlCol="0">
            <a:spAutoFit/>
          </a:bodyPr>
          <a:p>
            <a:r>
              <a:rPr lang="zh-CN" altLang="en-US"/>
              <a:t>进程</a:t>
            </a:r>
            <a:r>
              <a:rPr lang="zh-CN" altLang="en-US"/>
              <a:t>执行</a:t>
            </a:r>
            <a:endParaRPr lang="zh-CN" altLang="en-US"/>
          </a:p>
        </p:txBody>
      </p:sp>
      <p:sp>
        <p:nvSpPr>
          <p:cNvPr id="20" name="文本框 19"/>
          <p:cNvSpPr txBox="1"/>
          <p:nvPr/>
        </p:nvSpPr>
        <p:spPr>
          <a:xfrm>
            <a:off x="1701165" y="5677535"/>
            <a:ext cx="1840230" cy="368300"/>
          </a:xfrm>
          <a:prstGeom prst="rect">
            <a:avLst/>
          </a:prstGeom>
          <a:noFill/>
        </p:spPr>
        <p:txBody>
          <a:bodyPr wrap="square" rtlCol="0">
            <a:spAutoFit/>
          </a:bodyPr>
          <a:p>
            <a:r>
              <a:rPr lang="zh-CN" altLang="en-US"/>
              <a:t>容器间网络互</a:t>
            </a:r>
            <a:r>
              <a:rPr lang="zh-CN" altLang="en-US"/>
              <a:t>访</a:t>
            </a:r>
            <a:endParaRPr lang="zh-CN" altLang="en-US"/>
          </a:p>
        </p:txBody>
      </p:sp>
      <p:cxnSp>
        <p:nvCxnSpPr>
          <p:cNvPr id="21" name="直接连接符 20"/>
          <p:cNvCxnSpPr/>
          <p:nvPr/>
        </p:nvCxnSpPr>
        <p:spPr>
          <a:xfrm>
            <a:off x="3605530" y="2887345"/>
            <a:ext cx="5581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605530" y="3895725"/>
            <a:ext cx="5581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89655" y="4919980"/>
            <a:ext cx="5581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606800" y="5892165"/>
            <a:ext cx="5581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137660" y="2903220"/>
            <a:ext cx="0" cy="2994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4137660" y="3901440"/>
            <a:ext cx="24765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圆角矩形 26"/>
          <p:cNvSpPr/>
          <p:nvPr/>
        </p:nvSpPr>
        <p:spPr>
          <a:xfrm>
            <a:off x="4513580" y="3472815"/>
            <a:ext cx="1555750" cy="337820"/>
          </a:xfrm>
          <a:prstGeom prst="roundRect">
            <a:avLst/>
          </a:prstGeom>
          <a:solidFill>
            <a:schemeClr val="tx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文本框 27"/>
          <p:cNvSpPr txBox="1"/>
          <p:nvPr/>
        </p:nvSpPr>
        <p:spPr>
          <a:xfrm>
            <a:off x="4799330" y="3503930"/>
            <a:ext cx="1218565" cy="306705"/>
          </a:xfrm>
          <a:prstGeom prst="rect">
            <a:avLst/>
          </a:prstGeom>
          <a:noFill/>
        </p:spPr>
        <p:txBody>
          <a:bodyPr wrap="square" rtlCol="0">
            <a:spAutoFit/>
          </a:bodyPr>
          <a:p>
            <a:r>
              <a:rPr lang="zh-CN" altLang="en-US" sz="1400"/>
              <a:t>收集信息</a:t>
            </a:r>
            <a:endParaRPr lang="zh-CN" altLang="en-US" sz="1400"/>
          </a:p>
        </p:txBody>
      </p:sp>
      <p:cxnSp>
        <p:nvCxnSpPr>
          <p:cNvPr id="30" name="直接箭头连接符 29"/>
          <p:cNvCxnSpPr>
            <a:stCxn id="27" idx="0"/>
          </p:cNvCxnSpPr>
          <p:nvPr/>
        </p:nvCxnSpPr>
        <p:spPr>
          <a:xfrm flipV="1">
            <a:off x="5291455" y="2371725"/>
            <a:ext cx="0" cy="11010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圆角矩形 30"/>
          <p:cNvSpPr/>
          <p:nvPr/>
        </p:nvSpPr>
        <p:spPr>
          <a:xfrm>
            <a:off x="6017895" y="1862455"/>
            <a:ext cx="1555750" cy="337820"/>
          </a:xfrm>
          <a:prstGeom prst="roundRect">
            <a:avLst/>
          </a:prstGeom>
          <a:solidFill>
            <a:schemeClr val="tx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文本框 31"/>
          <p:cNvSpPr txBox="1"/>
          <p:nvPr/>
        </p:nvSpPr>
        <p:spPr>
          <a:xfrm>
            <a:off x="6303645" y="1893570"/>
            <a:ext cx="1218565" cy="306705"/>
          </a:xfrm>
          <a:prstGeom prst="rect">
            <a:avLst/>
          </a:prstGeom>
          <a:noFill/>
        </p:spPr>
        <p:txBody>
          <a:bodyPr wrap="square" rtlCol="0">
            <a:spAutoFit/>
          </a:bodyPr>
          <a:p>
            <a:r>
              <a:rPr lang="zh-CN" altLang="en-US" sz="1400"/>
              <a:t>行为</a:t>
            </a:r>
            <a:r>
              <a:rPr lang="zh-CN" altLang="en-US" sz="1400"/>
              <a:t>特征</a:t>
            </a:r>
            <a:endParaRPr lang="zh-CN" altLang="en-US" sz="1400"/>
          </a:p>
        </p:txBody>
      </p:sp>
      <p:sp>
        <p:nvSpPr>
          <p:cNvPr id="33" name="圆角矩形 32"/>
          <p:cNvSpPr/>
          <p:nvPr/>
        </p:nvSpPr>
        <p:spPr>
          <a:xfrm>
            <a:off x="6027420" y="2498090"/>
            <a:ext cx="1555750" cy="337820"/>
          </a:xfrm>
          <a:prstGeom prst="roundRect">
            <a:avLst/>
          </a:prstGeom>
          <a:solidFill>
            <a:schemeClr val="tx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文本框 33"/>
          <p:cNvSpPr txBox="1"/>
          <p:nvPr/>
        </p:nvSpPr>
        <p:spPr>
          <a:xfrm>
            <a:off x="6313170" y="2529205"/>
            <a:ext cx="1218565" cy="306705"/>
          </a:xfrm>
          <a:prstGeom prst="rect">
            <a:avLst/>
          </a:prstGeom>
          <a:noFill/>
        </p:spPr>
        <p:txBody>
          <a:bodyPr wrap="square" rtlCol="0">
            <a:spAutoFit/>
          </a:bodyPr>
          <a:p>
            <a:r>
              <a:rPr lang="zh-CN" altLang="en-US" sz="1400"/>
              <a:t>指标特征</a:t>
            </a:r>
            <a:endParaRPr lang="zh-CN" altLang="en-US" sz="1400"/>
          </a:p>
        </p:txBody>
      </p:sp>
      <p:cxnSp>
        <p:nvCxnSpPr>
          <p:cNvPr id="36" name="直接连接符 35"/>
          <p:cNvCxnSpPr/>
          <p:nvPr/>
        </p:nvCxnSpPr>
        <p:spPr>
          <a:xfrm flipV="1">
            <a:off x="5291455" y="2034540"/>
            <a:ext cx="0" cy="3632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278755" y="2034540"/>
            <a:ext cx="75247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5274945" y="2682240"/>
            <a:ext cx="75247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圆角矩形 38"/>
          <p:cNvSpPr/>
          <p:nvPr/>
        </p:nvSpPr>
        <p:spPr>
          <a:xfrm>
            <a:off x="6600825" y="3661410"/>
            <a:ext cx="1970405" cy="4800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文本框 39"/>
          <p:cNvSpPr txBox="1"/>
          <p:nvPr/>
        </p:nvSpPr>
        <p:spPr>
          <a:xfrm>
            <a:off x="6814820" y="3738245"/>
            <a:ext cx="1620520" cy="368300"/>
          </a:xfrm>
          <a:prstGeom prst="rect">
            <a:avLst/>
          </a:prstGeom>
          <a:noFill/>
        </p:spPr>
        <p:txBody>
          <a:bodyPr wrap="square" rtlCol="0">
            <a:spAutoFit/>
          </a:bodyPr>
          <a:p>
            <a:r>
              <a:rPr lang="en-US" altLang="zh-CN"/>
              <a:t>Seccomp</a:t>
            </a:r>
            <a:r>
              <a:rPr lang="zh-CN" altLang="en-US"/>
              <a:t>工具</a:t>
            </a:r>
            <a:endParaRPr lang="zh-CN" altLang="en-US"/>
          </a:p>
        </p:txBody>
      </p:sp>
      <p:cxnSp>
        <p:nvCxnSpPr>
          <p:cNvPr id="41" name="直接连接符 40"/>
          <p:cNvCxnSpPr>
            <a:stCxn id="31" idx="3"/>
          </p:cNvCxnSpPr>
          <p:nvPr/>
        </p:nvCxnSpPr>
        <p:spPr>
          <a:xfrm>
            <a:off x="7573645" y="2031365"/>
            <a:ext cx="5181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7596505" y="2682240"/>
            <a:ext cx="5181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8571230" y="3901440"/>
            <a:ext cx="5181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44" name="圆角矩形 43"/>
          <p:cNvSpPr/>
          <p:nvPr/>
        </p:nvSpPr>
        <p:spPr>
          <a:xfrm>
            <a:off x="9064625" y="3653155"/>
            <a:ext cx="1828165" cy="488315"/>
          </a:xfrm>
          <a:prstGeom prst="roundRect">
            <a:avLst/>
          </a:prstGeom>
          <a:noFill/>
          <a:ln>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文本框 44"/>
          <p:cNvSpPr txBox="1"/>
          <p:nvPr/>
        </p:nvSpPr>
        <p:spPr>
          <a:xfrm>
            <a:off x="9142095" y="3732530"/>
            <a:ext cx="1672590" cy="368300"/>
          </a:xfrm>
          <a:prstGeom prst="rect">
            <a:avLst/>
          </a:prstGeom>
          <a:noFill/>
        </p:spPr>
        <p:txBody>
          <a:bodyPr wrap="square" rtlCol="0">
            <a:spAutoFit/>
          </a:bodyPr>
          <a:p>
            <a:r>
              <a:rPr lang="zh-CN" altLang="en-US"/>
              <a:t>进行权限</a:t>
            </a:r>
            <a:r>
              <a:rPr lang="zh-CN" altLang="en-US"/>
              <a:t>控制</a:t>
            </a:r>
            <a:endParaRPr lang="zh-CN" altLang="en-US"/>
          </a:p>
        </p:txBody>
      </p:sp>
      <p:sp>
        <p:nvSpPr>
          <p:cNvPr id="46" name="圆角矩形 45"/>
          <p:cNvSpPr/>
          <p:nvPr/>
        </p:nvSpPr>
        <p:spPr>
          <a:xfrm>
            <a:off x="8091805" y="1834515"/>
            <a:ext cx="3279775" cy="368935"/>
          </a:xfrm>
          <a:prstGeom prst="roundRect">
            <a:avLst/>
          </a:prstGeom>
          <a:noFill/>
          <a:ln>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 name="文本框 46"/>
          <p:cNvSpPr txBox="1"/>
          <p:nvPr/>
        </p:nvSpPr>
        <p:spPr>
          <a:xfrm>
            <a:off x="8182610" y="1881505"/>
            <a:ext cx="3098165" cy="275590"/>
          </a:xfrm>
          <a:prstGeom prst="rect">
            <a:avLst/>
          </a:prstGeom>
          <a:noFill/>
        </p:spPr>
        <p:txBody>
          <a:bodyPr wrap="square" rtlCol="0">
            <a:spAutoFit/>
          </a:bodyPr>
          <a:p>
            <a:r>
              <a:rPr lang="zh-CN" altLang="en-US" sz="1200"/>
              <a:t>系统调用频率、文件访问、网络通信</a:t>
            </a:r>
            <a:r>
              <a:rPr lang="zh-CN" altLang="en-US" sz="1200"/>
              <a:t>等</a:t>
            </a:r>
            <a:endParaRPr lang="zh-CN" altLang="en-US" sz="1200"/>
          </a:p>
        </p:txBody>
      </p:sp>
      <p:sp>
        <p:nvSpPr>
          <p:cNvPr id="48" name="圆角矩形 47"/>
          <p:cNvSpPr/>
          <p:nvPr/>
        </p:nvSpPr>
        <p:spPr>
          <a:xfrm>
            <a:off x="8091805" y="2495550"/>
            <a:ext cx="3279775" cy="368935"/>
          </a:xfrm>
          <a:prstGeom prst="roundRect">
            <a:avLst/>
          </a:prstGeom>
          <a:noFill/>
          <a:ln>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文本框 48"/>
          <p:cNvSpPr txBox="1"/>
          <p:nvPr/>
        </p:nvSpPr>
        <p:spPr>
          <a:xfrm>
            <a:off x="8182610" y="2542540"/>
            <a:ext cx="3098165" cy="275590"/>
          </a:xfrm>
          <a:prstGeom prst="rect">
            <a:avLst/>
          </a:prstGeom>
          <a:noFill/>
        </p:spPr>
        <p:txBody>
          <a:bodyPr wrap="square" rtlCol="0">
            <a:spAutoFit/>
          </a:bodyPr>
          <a:p>
            <a:r>
              <a:rPr lang="zh-CN" altLang="en-US" sz="1200"/>
              <a:t>IO吞吐、内存利用率、CPU利用率等</a:t>
            </a:r>
            <a:endParaRPr lang="zh-CN" altLang="en-US" sz="1200"/>
          </a:p>
        </p:txBody>
      </p:sp>
      <p:cxnSp>
        <p:nvCxnSpPr>
          <p:cNvPr id="50" name="直接箭头连接符 49"/>
          <p:cNvCxnSpPr>
            <a:stCxn id="39" idx="2"/>
          </p:cNvCxnSpPr>
          <p:nvPr/>
        </p:nvCxnSpPr>
        <p:spPr>
          <a:xfrm>
            <a:off x="7586345" y="4141470"/>
            <a:ext cx="0" cy="5892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圆角矩形 50"/>
          <p:cNvSpPr/>
          <p:nvPr/>
        </p:nvSpPr>
        <p:spPr>
          <a:xfrm>
            <a:off x="6614160" y="4730750"/>
            <a:ext cx="1970405" cy="4800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文本框 51"/>
          <p:cNvSpPr txBox="1"/>
          <p:nvPr/>
        </p:nvSpPr>
        <p:spPr>
          <a:xfrm>
            <a:off x="6698615" y="4786630"/>
            <a:ext cx="1801495" cy="368300"/>
          </a:xfrm>
          <a:prstGeom prst="rect">
            <a:avLst/>
          </a:prstGeom>
          <a:noFill/>
        </p:spPr>
        <p:txBody>
          <a:bodyPr wrap="square" rtlCol="0">
            <a:spAutoFit/>
          </a:bodyPr>
          <a:p>
            <a:r>
              <a:rPr lang="en-US" altLang="zh-CN"/>
              <a:t>Grafana UI</a:t>
            </a:r>
            <a:r>
              <a:rPr lang="zh-CN" altLang="en-US"/>
              <a:t>系统</a:t>
            </a:r>
            <a:endParaRPr lang="zh-CN" altLang="en-US"/>
          </a:p>
        </p:txBody>
      </p:sp>
      <p:cxnSp>
        <p:nvCxnSpPr>
          <p:cNvPr id="53" name="直接连接符 52"/>
          <p:cNvCxnSpPr/>
          <p:nvPr/>
        </p:nvCxnSpPr>
        <p:spPr>
          <a:xfrm>
            <a:off x="8570595" y="4975225"/>
            <a:ext cx="5181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4" name="圆角矩形 53"/>
          <p:cNvSpPr/>
          <p:nvPr/>
        </p:nvSpPr>
        <p:spPr>
          <a:xfrm>
            <a:off x="9063990" y="4726940"/>
            <a:ext cx="1828165" cy="488315"/>
          </a:xfrm>
          <a:prstGeom prst="roundRect">
            <a:avLst/>
          </a:prstGeom>
          <a:noFill/>
          <a:ln>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 name="文本框 54"/>
          <p:cNvSpPr txBox="1"/>
          <p:nvPr/>
        </p:nvSpPr>
        <p:spPr>
          <a:xfrm>
            <a:off x="9141460" y="4806315"/>
            <a:ext cx="1672590" cy="368300"/>
          </a:xfrm>
          <a:prstGeom prst="rect">
            <a:avLst/>
          </a:prstGeom>
          <a:noFill/>
        </p:spPr>
        <p:txBody>
          <a:bodyPr wrap="square" rtlCol="0">
            <a:spAutoFit/>
          </a:bodyPr>
          <a:p>
            <a:r>
              <a:rPr lang="zh-CN" altLang="en-US"/>
              <a:t>数据汇总</a:t>
            </a:r>
            <a:r>
              <a:rPr lang="zh-CN" altLang="en-US"/>
              <a:t>展示</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74" name="图片 5" descr="未标题-1"/>
          <p:cNvPicPr>
            <a:picLocks noChangeAspect="1"/>
          </p:cNvPicPr>
          <p:nvPr/>
        </p:nvPicPr>
        <p:blipFill>
          <a:blip r:embed="rId1"/>
          <a:stretch>
            <a:fillRect/>
          </a:stretch>
        </p:blipFill>
        <p:spPr>
          <a:xfrm>
            <a:off x="9830435" y="261620"/>
            <a:ext cx="2005965" cy="536575"/>
          </a:xfrm>
          <a:prstGeom prst="rect">
            <a:avLst/>
          </a:prstGeom>
        </p:spPr>
      </p:pic>
      <p:pic>
        <p:nvPicPr>
          <p:cNvPr id="2" name="图片 1" descr="content_arch"/>
          <p:cNvPicPr>
            <a:picLocks noChangeAspect="1"/>
          </p:cNvPicPr>
          <p:nvPr/>
        </p:nvPicPr>
        <p:blipFill>
          <a:blip r:embed="rId2"/>
          <a:stretch>
            <a:fillRect/>
          </a:stretch>
        </p:blipFill>
        <p:spPr>
          <a:xfrm>
            <a:off x="0" y="2029460"/>
            <a:ext cx="12192000" cy="4382135"/>
          </a:xfrm>
          <a:prstGeom prst="rect">
            <a:avLst/>
          </a:prstGeom>
        </p:spPr>
      </p:pic>
      <p:pic>
        <p:nvPicPr>
          <p:cNvPr id="2097373" name="图片 11" descr="C:\Users\Administrator\Desktop\ppt.pngppt"/>
          <p:cNvPicPr>
            <a:picLocks noChangeAspect="1"/>
          </p:cNvPicPr>
          <p:nvPr/>
        </p:nvPicPr>
        <p:blipFill>
          <a:blip r:embed="rId3"/>
          <a:srcRect/>
          <a:stretch>
            <a:fillRect/>
          </a:stretch>
        </p:blipFill>
        <p:spPr>
          <a:xfrm>
            <a:off x="0" y="14288"/>
            <a:ext cx="12192000" cy="1057910"/>
          </a:xfrm>
          <a:prstGeom prst="rect">
            <a:avLst/>
          </a:prstGeom>
        </p:spPr>
      </p:pic>
      <p:sp>
        <p:nvSpPr>
          <p:cNvPr id="11" name="圆角矩形 10"/>
          <p:cNvSpPr/>
          <p:nvPr/>
        </p:nvSpPr>
        <p:spPr>
          <a:xfrm>
            <a:off x="260350" y="1376680"/>
            <a:ext cx="1821815" cy="434340"/>
          </a:xfrm>
          <a:prstGeom prst="roundRect">
            <a:avLst/>
          </a:prstGeom>
          <a:solidFill>
            <a:schemeClr val="accent1">
              <a:lumMod val="40000"/>
              <a:lumOff val="60000"/>
            </a:schemeClr>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文本框 2"/>
          <p:cNvSpPr txBox="1"/>
          <p:nvPr/>
        </p:nvSpPr>
        <p:spPr>
          <a:xfrm>
            <a:off x="657225" y="1412875"/>
            <a:ext cx="1291590" cy="337185"/>
          </a:xfrm>
          <a:prstGeom prst="rect">
            <a:avLst/>
          </a:prstGeom>
          <a:noFill/>
        </p:spPr>
        <p:txBody>
          <a:bodyPr wrap="square" rtlCol="0">
            <a:spAutoFit/>
          </a:bodyPr>
          <a:p>
            <a:r>
              <a:rPr lang="zh-CN" altLang="en-US" sz="1600"/>
              <a:t>目录结构</a:t>
            </a:r>
            <a:endParaRPr lang="zh-CN" alt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logo"/>
          <p:cNvPicPr>
            <a:picLocks noChangeAspect="1"/>
          </p:cNvPicPr>
          <p:nvPr/>
        </p:nvPicPr>
        <p:blipFill>
          <a:blip r:embed="rId1"/>
          <a:stretch>
            <a:fillRect/>
          </a:stretch>
        </p:blipFill>
        <p:spPr>
          <a:xfrm>
            <a:off x="3146425" y="28575"/>
            <a:ext cx="2162810" cy="1438275"/>
          </a:xfrm>
          <a:prstGeom prst="rect">
            <a:avLst/>
          </a:prstGeom>
        </p:spPr>
      </p:pic>
      <p:sp>
        <p:nvSpPr>
          <p:cNvPr id="5" name="六边形 4"/>
          <p:cNvSpPr/>
          <p:nvPr/>
        </p:nvSpPr>
        <p:spPr>
          <a:xfrm>
            <a:off x="6075680" y="634365"/>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六边形 5"/>
          <p:cNvSpPr/>
          <p:nvPr/>
        </p:nvSpPr>
        <p:spPr>
          <a:xfrm>
            <a:off x="8018145" y="634365"/>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六边形 6"/>
          <p:cNvSpPr/>
          <p:nvPr/>
        </p:nvSpPr>
        <p:spPr>
          <a:xfrm>
            <a:off x="9960610" y="634365"/>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6231255" y="1098550"/>
            <a:ext cx="1309370" cy="368300"/>
          </a:xfrm>
          <a:prstGeom prst="rect">
            <a:avLst/>
          </a:prstGeom>
          <a:noFill/>
        </p:spPr>
        <p:txBody>
          <a:bodyPr wrap="square" rtlCol="0">
            <a:spAutoFit/>
          </a:bodyPr>
          <a:p>
            <a:r>
              <a:rPr lang="en-US" altLang="zh-CN"/>
              <a:t>Container1</a:t>
            </a:r>
            <a:endParaRPr lang="en-US" altLang="zh-CN"/>
          </a:p>
        </p:txBody>
      </p:sp>
      <p:sp>
        <p:nvSpPr>
          <p:cNvPr id="12" name="文本框 11"/>
          <p:cNvSpPr txBox="1"/>
          <p:nvPr/>
        </p:nvSpPr>
        <p:spPr>
          <a:xfrm>
            <a:off x="8187690" y="1098550"/>
            <a:ext cx="1309370" cy="368300"/>
          </a:xfrm>
          <a:prstGeom prst="rect">
            <a:avLst/>
          </a:prstGeom>
          <a:noFill/>
        </p:spPr>
        <p:txBody>
          <a:bodyPr wrap="square" rtlCol="0">
            <a:spAutoFit/>
          </a:bodyPr>
          <a:p>
            <a:r>
              <a:rPr lang="en-US" altLang="zh-CN"/>
              <a:t>Container2</a:t>
            </a:r>
            <a:endParaRPr lang="en-US" altLang="zh-CN"/>
          </a:p>
        </p:txBody>
      </p:sp>
      <p:sp>
        <p:nvSpPr>
          <p:cNvPr id="13" name="文本框 12"/>
          <p:cNvSpPr txBox="1"/>
          <p:nvPr/>
        </p:nvSpPr>
        <p:spPr>
          <a:xfrm>
            <a:off x="10116185" y="1098550"/>
            <a:ext cx="1305560" cy="368300"/>
          </a:xfrm>
          <a:prstGeom prst="rect">
            <a:avLst/>
          </a:prstGeom>
          <a:noFill/>
        </p:spPr>
        <p:txBody>
          <a:bodyPr wrap="square" rtlCol="0">
            <a:spAutoFit/>
          </a:bodyPr>
          <a:p>
            <a:r>
              <a:rPr lang="en-US" altLang="zh-CN"/>
              <a:t>Container3</a:t>
            </a:r>
            <a:endParaRPr lang="en-US" altLang="zh-CN"/>
          </a:p>
        </p:txBody>
      </p:sp>
      <p:cxnSp>
        <p:nvCxnSpPr>
          <p:cNvPr id="14" name="直接连接符 13"/>
          <p:cNvCxnSpPr/>
          <p:nvPr/>
        </p:nvCxnSpPr>
        <p:spPr>
          <a:xfrm>
            <a:off x="6899275" y="1917700"/>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842375" y="1931035"/>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0785475" y="1917700"/>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899275" y="2475230"/>
            <a:ext cx="39020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8842375" y="2487930"/>
            <a:ext cx="0" cy="3238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899275" y="2811780"/>
            <a:ext cx="3914775" cy="4800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文本框 20"/>
          <p:cNvSpPr txBox="1"/>
          <p:nvPr/>
        </p:nvSpPr>
        <p:spPr>
          <a:xfrm>
            <a:off x="7106285" y="2889885"/>
            <a:ext cx="4315460" cy="306705"/>
          </a:xfrm>
          <a:prstGeom prst="rect">
            <a:avLst/>
          </a:prstGeom>
          <a:noFill/>
        </p:spPr>
        <p:txBody>
          <a:bodyPr wrap="square" rtlCol="0">
            <a:spAutoFit/>
          </a:bodyPr>
          <a:p>
            <a:r>
              <a:rPr lang="zh-CN" altLang="en-US" sz="1400"/>
              <a:t>权限控制（</a:t>
            </a:r>
            <a:r>
              <a:rPr lang="en-US" altLang="zh-CN" sz="1400"/>
              <a:t>seccomp,capabilities,iptables)</a:t>
            </a:r>
            <a:endParaRPr lang="en-US" altLang="zh-CN" sz="1400"/>
          </a:p>
        </p:txBody>
      </p:sp>
      <p:cxnSp>
        <p:nvCxnSpPr>
          <p:cNvPr id="22" name="直接箭头连接符 21"/>
          <p:cNvCxnSpPr>
            <a:stCxn id="20" idx="2"/>
          </p:cNvCxnSpPr>
          <p:nvPr/>
        </p:nvCxnSpPr>
        <p:spPr>
          <a:xfrm>
            <a:off x="8856980" y="3291840"/>
            <a:ext cx="0" cy="5314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圆角矩形 22"/>
          <p:cNvSpPr/>
          <p:nvPr/>
        </p:nvSpPr>
        <p:spPr>
          <a:xfrm>
            <a:off x="4420870" y="3823335"/>
            <a:ext cx="7531735" cy="264477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文本框 23"/>
          <p:cNvSpPr txBox="1"/>
          <p:nvPr/>
        </p:nvSpPr>
        <p:spPr>
          <a:xfrm>
            <a:off x="10785475" y="3965575"/>
            <a:ext cx="1036955" cy="368300"/>
          </a:xfrm>
          <a:prstGeom prst="rect">
            <a:avLst/>
          </a:prstGeom>
          <a:noFill/>
        </p:spPr>
        <p:txBody>
          <a:bodyPr wrap="square" rtlCol="0">
            <a:spAutoFit/>
          </a:bodyPr>
          <a:p>
            <a:r>
              <a:rPr lang="en-US" altLang="zh-CN"/>
              <a:t>kernel</a:t>
            </a:r>
            <a:endParaRPr lang="en-US" altLang="zh-CN"/>
          </a:p>
        </p:txBody>
      </p:sp>
      <p:sp>
        <p:nvSpPr>
          <p:cNvPr id="25" name="正五边形 24"/>
          <p:cNvSpPr/>
          <p:nvPr/>
        </p:nvSpPr>
        <p:spPr>
          <a:xfrm>
            <a:off x="899160" y="1781175"/>
            <a:ext cx="2087245" cy="1737360"/>
          </a:xfrm>
          <a:prstGeom prst="pentagon">
            <a:avLst/>
          </a:prstGeom>
          <a:solidFill>
            <a:schemeClr val="accent1">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文本框 25"/>
          <p:cNvSpPr txBox="1"/>
          <p:nvPr/>
        </p:nvSpPr>
        <p:spPr>
          <a:xfrm>
            <a:off x="1236345" y="2521585"/>
            <a:ext cx="1412875" cy="368300"/>
          </a:xfrm>
          <a:prstGeom prst="rect">
            <a:avLst/>
          </a:prstGeom>
          <a:noFill/>
        </p:spPr>
        <p:txBody>
          <a:bodyPr wrap="square" rtlCol="0">
            <a:spAutoFit/>
          </a:bodyPr>
          <a:p>
            <a:r>
              <a:rPr lang="en-US" altLang="zh-CN"/>
              <a:t>ContGuard</a:t>
            </a:r>
            <a:endParaRPr lang="en-US" altLang="zh-CN"/>
          </a:p>
        </p:txBody>
      </p:sp>
      <p:cxnSp>
        <p:nvCxnSpPr>
          <p:cNvPr id="27" name="直接连接符 26"/>
          <p:cNvCxnSpPr/>
          <p:nvPr/>
        </p:nvCxnSpPr>
        <p:spPr>
          <a:xfrm>
            <a:off x="2971800" y="2475230"/>
            <a:ext cx="86614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473065" y="2521585"/>
            <a:ext cx="0" cy="84328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3837940" y="2475230"/>
            <a:ext cx="165925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473065" y="3317875"/>
            <a:ext cx="0" cy="90741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473065" y="4225290"/>
            <a:ext cx="0" cy="101155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33" name="圆柱形 32"/>
          <p:cNvSpPr/>
          <p:nvPr/>
        </p:nvSpPr>
        <p:spPr>
          <a:xfrm>
            <a:off x="4702175" y="5236845"/>
            <a:ext cx="1542415" cy="959485"/>
          </a:xfrm>
          <a:prstGeom prst="can">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文本框 33"/>
          <p:cNvSpPr txBox="1"/>
          <p:nvPr/>
        </p:nvSpPr>
        <p:spPr>
          <a:xfrm>
            <a:off x="4889500" y="5677535"/>
            <a:ext cx="1193165" cy="368300"/>
          </a:xfrm>
          <a:prstGeom prst="rect">
            <a:avLst/>
          </a:prstGeom>
          <a:noFill/>
        </p:spPr>
        <p:txBody>
          <a:bodyPr wrap="square" rtlCol="0">
            <a:spAutoFit/>
          </a:bodyPr>
          <a:p>
            <a:r>
              <a:rPr lang="en-US" altLang="zh-CN"/>
              <a:t>BPF Map</a:t>
            </a:r>
            <a:endParaRPr lang="en-US" altLang="zh-CN"/>
          </a:p>
        </p:txBody>
      </p:sp>
      <p:cxnSp>
        <p:nvCxnSpPr>
          <p:cNvPr id="35" name="直接连接符 34"/>
          <p:cNvCxnSpPr/>
          <p:nvPr/>
        </p:nvCxnSpPr>
        <p:spPr>
          <a:xfrm>
            <a:off x="5473065" y="4938395"/>
            <a:ext cx="158178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4167505" y="2181225"/>
            <a:ext cx="1305560" cy="306705"/>
          </a:xfrm>
          <a:prstGeom prst="rect">
            <a:avLst/>
          </a:prstGeom>
          <a:noFill/>
        </p:spPr>
        <p:txBody>
          <a:bodyPr wrap="square" rtlCol="0">
            <a:spAutoFit/>
          </a:bodyPr>
          <a:p>
            <a:r>
              <a:rPr lang="en-US" altLang="zh-CN" sz="1400"/>
              <a:t>perf_event</a:t>
            </a:r>
            <a:endParaRPr lang="en-US" altLang="zh-CN" sz="1400"/>
          </a:p>
        </p:txBody>
      </p:sp>
      <p:cxnSp>
        <p:nvCxnSpPr>
          <p:cNvPr id="37" name="直接连接符 36"/>
          <p:cNvCxnSpPr>
            <a:stCxn id="25" idx="3"/>
          </p:cNvCxnSpPr>
          <p:nvPr/>
        </p:nvCxnSpPr>
        <p:spPr>
          <a:xfrm>
            <a:off x="1943100" y="3518535"/>
            <a:ext cx="0" cy="33083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1054735" y="3849370"/>
            <a:ext cx="17760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1943100" y="3862070"/>
            <a:ext cx="0" cy="3759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055370" y="3849370"/>
            <a:ext cx="0" cy="3759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2830830" y="3856990"/>
            <a:ext cx="0" cy="3759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2" name="竖卷形 41"/>
          <p:cNvSpPr/>
          <p:nvPr/>
        </p:nvSpPr>
        <p:spPr>
          <a:xfrm>
            <a:off x="108585" y="4238625"/>
            <a:ext cx="1127760" cy="1360805"/>
          </a:xfrm>
          <a:prstGeom prst="verticalScroll">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 name="竖卷形 42"/>
          <p:cNvSpPr/>
          <p:nvPr/>
        </p:nvSpPr>
        <p:spPr>
          <a:xfrm>
            <a:off x="1236345" y="4262120"/>
            <a:ext cx="1127760" cy="1360805"/>
          </a:xfrm>
          <a:prstGeom prst="verticalScroll">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流程图: 磁盘 43"/>
          <p:cNvSpPr/>
          <p:nvPr/>
        </p:nvSpPr>
        <p:spPr>
          <a:xfrm>
            <a:off x="2426335" y="4238625"/>
            <a:ext cx="1167130" cy="1438275"/>
          </a:xfrm>
          <a:prstGeom prst="flowChartMagneticDisk">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文本框 44"/>
          <p:cNvSpPr txBox="1"/>
          <p:nvPr/>
        </p:nvSpPr>
        <p:spPr>
          <a:xfrm>
            <a:off x="2530475" y="4912360"/>
            <a:ext cx="1036955" cy="275590"/>
          </a:xfrm>
          <a:prstGeom prst="rect">
            <a:avLst/>
          </a:prstGeom>
          <a:noFill/>
        </p:spPr>
        <p:txBody>
          <a:bodyPr wrap="square" rtlCol="0">
            <a:spAutoFit/>
          </a:bodyPr>
          <a:p>
            <a:r>
              <a:rPr lang="en-US" altLang="zh-CN" sz="1200"/>
              <a:t>prometheus</a:t>
            </a:r>
            <a:endParaRPr lang="en-US" altLang="zh-CN" sz="1200"/>
          </a:p>
        </p:txBody>
      </p:sp>
      <p:sp>
        <p:nvSpPr>
          <p:cNvPr id="46" name="文本框 45"/>
          <p:cNvSpPr txBox="1"/>
          <p:nvPr/>
        </p:nvSpPr>
        <p:spPr>
          <a:xfrm>
            <a:off x="365760" y="4712335"/>
            <a:ext cx="612775" cy="460375"/>
          </a:xfrm>
          <a:prstGeom prst="rect">
            <a:avLst/>
          </a:prstGeom>
          <a:noFill/>
        </p:spPr>
        <p:txBody>
          <a:bodyPr wrap="square" rtlCol="0">
            <a:spAutoFit/>
          </a:bodyPr>
          <a:p>
            <a:r>
              <a:rPr lang="en-US" altLang="zh-CN" sz="1200"/>
              <a:t>JSON</a:t>
            </a:r>
            <a:endParaRPr lang="en-US" altLang="zh-CN" sz="1200"/>
          </a:p>
          <a:p>
            <a:r>
              <a:rPr lang="en-US" altLang="zh-CN" sz="1200"/>
              <a:t>File</a:t>
            </a:r>
            <a:endParaRPr lang="en-US" altLang="zh-CN" sz="1200"/>
          </a:p>
        </p:txBody>
      </p:sp>
      <p:sp>
        <p:nvSpPr>
          <p:cNvPr id="47" name="文本框 46"/>
          <p:cNvSpPr txBox="1"/>
          <p:nvPr/>
        </p:nvSpPr>
        <p:spPr>
          <a:xfrm>
            <a:off x="1544955" y="4705350"/>
            <a:ext cx="544830" cy="521970"/>
          </a:xfrm>
          <a:prstGeom prst="rect">
            <a:avLst/>
          </a:prstGeom>
          <a:noFill/>
        </p:spPr>
        <p:txBody>
          <a:bodyPr wrap="square" rtlCol="0">
            <a:spAutoFit/>
          </a:bodyPr>
          <a:p>
            <a:r>
              <a:rPr lang="en-US" altLang="zh-CN" sz="1400"/>
              <a:t>CSV</a:t>
            </a:r>
            <a:endParaRPr lang="en-US" altLang="zh-CN" sz="1400"/>
          </a:p>
          <a:p>
            <a:r>
              <a:rPr lang="en-US" altLang="zh-CN" sz="1400"/>
              <a:t>File</a:t>
            </a:r>
            <a:endParaRPr lang="en-US" altLang="zh-CN" sz="1400"/>
          </a:p>
        </p:txBody>
      </p:sp>
      <p:cxnSp>
        <p:nvCxnSpPr>
          <p:cNvPr id="48" name="直接连接符 47"/>
          <p:cNvCxnSpPr>
            <a:stCxn id="42" idx="2"/>
          </p:cNvCxnSpPr>
          <p:nvPr/>
        </p:nvCxnSpPr>
        <p:spPr>
          <a:xfrm>
            <a:off x="672465" y="5599430"/>
            <a:ext cx="0" cy="5962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1800225" y="5622925"/>
            <a:ext cx="0" cy="5473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3049270" y="5676900"/>
            <a:ext cx="0" cy="50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50240" y="6182995"/>
            <a:ext cx="24117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3061970" y="6182995"/>
            <a:ext cx="933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3969385" y="3051810"/>
            <a:ext cx="0" cy="30981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a:off x="3969385" y="3051810"/>
            <a:ext cx="291655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4025900" y="3058160"/>
            <a:ext cx="1283335" cy="306705"/>
          </a:xfrm>
          <a:prstGeom prst="rect">
            <a:avLst/>
          </a:prstGeom>
          <a:noFill/>
        </p:spPr>
        <p:txBody>
          <a:bodyPr wrap="square" rtlCol="0">
            <a:spAutoFit/>
          </a:bodyPr>
          <a:p>
            <a:r>
              <a:rPr lang="zh-CN" altLang="en-US" sz="1400"/>
              <a:t>异常检测算法</a:t>
            </a:r>
            <a:endParaRPr lang="zh-CN" altLang="en-US" sz="1400"/>
          </a:p>
        </p:txBody>
      </p:sp>
      <p:sp>
        <p:nvSpPr>
          <p:cNvPr id="56" name="文本框 55"/>
          <p:cNvSpPr txBox="1"/>
          <p:nvPr/>
        </p:nvSpPr>
        <p:spPr>
          <a:xfrm>
            <a:off x="481965" y="375285"/>
            <a:ext cx="3085465" cy="460375"/>
          </a:xfrm>
          <a:prstGeom prst="rect">
            <a:avLst/>
          </a:prstGeom>
          <a:noFill/>
        </p:spPr>
        <p:txBody>
          <a:bodyPr wrap="square" rtlCol="0">
            <a:spAutoFit/>
          </a:bodyPr>
          <a:p>
            <a:r>
              <a:rPr lang="en-US" altLang="zh-CN" sz="2400" b="1">
                <a:latin typeface="+mj-lt"/>
                <a:ea typeface="+mj-lt"/>
              </a:rPr>
              <a:t>Cont</a:t>
            </a:r>
            <a:r>
              <a:rPr lang="en-US" altLang="zh-CN" sz="2400" b="1">
                <a:latin typeface="+mj-lt"/>
                <a:ea typeface="+mj-lt"/>
              </a:rPr>
              <a:t>Guard </a:t>
            </a:r>
            <a:r>
              <a:rPr lang="zh-CN" altLang="en-US" sz="2400" b="1">
                <a:latin typeface="+mj-lt"/>
                <a:ea typeface="+mj-lt"/>
              </a:rPr>
              <a:t>架构设计</a:t>
            </a:r>
            <a:endParaRPr lang="zh-CN" altLang="en-US" sz="2400" b="1">
              <a:latin typeface="+mj-lt"/>
              <a:ea typeface="+mj-lt"/>
            </a:endParaRPr>
          </a:p>
        </p:txBody>
      </p:sp>
      <p:sp>
        <p:nvSpPr>
          <p:cNvPr id="57" name="圆角矩形 56"/>
          <p:cNvSpPr/>
          <p:nvPr/>
        </p:nvSpPr>
        <p:spPr>
          <a:xfrm>
            <a:off x="9051290" y="4160520"/>
            <a:ext cx="1607820" cy="37592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 name="圆角矩形 57"/>
          <p:cNvSpPr/>
          <p:nvPr/>
        </p:nvSpPr>
        <p:spPr>
          <a:xfrm>
            <a:off x="9051290" y="4712335"/>
            <a:ext cx="1607820" cy="37592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圆角矩形 58"/>
          <p:cNvSpPr/>
          <p:nvPr/>
        </p:nvSpPr>
        <p:spPr>
          <a:xfrm>
            <a:off x="9051290" y="5247005"/>
            <a:ext cx="1607820" cy="37592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 name="圆角矩形 59"/>
          <p:cNvSpPr/>
          <p:nvPr/>
        </p:nvSpPr>
        <p:spPr>
          <a:xfrm>
            <a:off x="9051290" y="5820410"/>
            <a:ext cx="1607820" cy="37592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 name="文本框 60"/>
          <p:cNvSpPr txBox="1"/>
          <p:nvPr/>
        </p:nvSpPr>
        <p:spPr>
          <a:xfrm>
            <a:off x="9375140" y="4168140"/>
            <a:ext cx="1193165" cy="368300"/>
          </a:xfrm>
          <a:prstGeom prst="rect">
            <a:avLst/>
          </a:prstGeom>
          <a:noFill/>
        </p:spPr>
        <p:txBody>
          <a:bodyPr wrap="square" rtlCol="0">
            <a:spAutoFit/>
          </a:bodyPr>
          <a:p>
            <a:r>
              <a:rPr lang="en-US" altLang="zh-CN"/>
              <a:t>syscall</a:t>
            </a:r>
            <a:endParaRPr lang="en-US" altLang="zh-CN"/>
          </a:p>
        </p:txBody>
      </p:sp>
      <p:sp>
        <p:nvSpPr>
          <p:cNvPr id="62" name="文本框 61"/>
          <p:cNvSpPr txBox="1"/>
          <p:nvPr/>
        </p:nvSpPr>
        <p:spPr>
          <a:xfrm>
            <a:off x="9497060" y="4734560"/>
            <a:ext cx="1036320" cy="368300"/>
          </a:xfrm>
          <a:prstGeom prst="rect">
            <a:avLst/>
          </a:prstGeom>
          <a:noFill/>
        </p:spPr>
        <p:txBody>
          <a:bodyPr wrap="square" rtlCol="0">
            <a:spAutoFit/>
          </a:bodyPr>
          <a:p>
            <a:r>
              <a:rPr lang="en-US" altLang="zh-CN"/>
              <a:t>exec</a:t>
            </a:r>
            <a:endParaRPr lang="en-US" altLang="zh-CN"/>
          </a:p>
        </p:txBody>
      </p:sp>
      <p:sp>
        <p:nvSpPr>
          <p:cNvPr id="63" name="文本框 62"/>
          <p:cNvSpPr txBox="1"/>
          <p:nvPr/>
        </p:nvSpPr>
        <p:spPr>
          <a:xfrm>
            <a:off x="9414510" y="5254625"/>
            <a:ext cx="1244600" cy="368300"/>
          </a:xfrm>
          <a:prstGeom prst="rect">
            <a:avLst/>
          </a:prstGeom>
          <a:noFill/>
        </p:spPr>
        <p:txBody>
          <a:bodyPr wrap="square" rtlCol="0">
            <a:spAutoFit/>
          </a:bodyPr>
          <a:p>
            <a:r>
              <a:rPr lang="en-US" altLang="zh-CN"/>
              <a:t>fileopen</a:t>
            </a:r>
            <a:endParaRPr lang="en-US" altLang="zh-CN"/>
          </a:p>
        </p:txBody>
      </p:sp>
      <p:sp>
        <p:nvSpPr>
          <p:cNvPr id="64" name="文本框 63"/>
          <p:cNvSpPr txBox="1"/>
          <p:nvPr/>
        </p:nvSpPr>
        <p:spPr>
          <a:xfrm>
            <a:off x="9401175" y="5801995"/>
            <a:ext cx="1167130" cy="368300"/>
          </a:xfrm>
          <a:prstGeom prst="rect">
            <a:avLst/>
          </a:prstGeom>
          <a:noFill/>
        </p:spPr>
        <p:txBody>
          <a:bodyPr wrap="square" rtlCol="0">
            <a:spAutoFit/>
          </a:bodyPr>
          <a:p>
            <a:r>
              <a:rPr lang="en-US" altLang="zh-CN"/>
              <a:t>netvisit</a:t>
            </a:r>
            <a:endParaRPr lang="en-US" altLang="zh-CN"/>
          </a:p>
        </p:txBody>
      </p:sp>
      <p:cxnSp>
        <p:nvCxnSpPr>
          <p:cNvPr id="65" name="直接连接符 64"/>
          <p:cNvCxnSpPr/>
          <p:nvPr/>
        </p:nvCxnSpPr>
        <p:spPr>
          <a:xfrm flipH="1">
            <a:off x="8558530" y="4348480"/>
            <a:ext cx="4927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8558530" y="4912360"/>
            <a:ext cx="4927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8558530" y="5434965"/>
            <a:ext cx="4927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8558530" y="6008370"/>
            <a:ext cx="49276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8571865" y="4354830"/>
            <a:ext cx="0" cy="164655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pic>
        <p:nvPicPr>
          <p:cNvPr id="72" name="图片 71" descr="eBPF"/>
          <p:cNvPicPr>
            <a:picLocks noChangeAspect="1"/>
          </p:cNvPicPr>
          <p:nvPr/>
        </p:nvPicPr>
        <p:blipFill>
          <a:blip r:embed="rId2"/>
          <a:stretch>
            <a:fillRect/>
          </a:stretch>
        </p:blipFill>
        <p:spPr>
          <a:xfrm>
            <a:off x="7054850" y="4343400"/>
            <a:ext cx="1412875" cy="1412875"/>
          </a:xfrm>
          <a:prstGeom prst="rect">
            <a:avLst/>
          </a:prstGeom>
        </p:spPr>
      </p:pic>
      <p:sp>
        <p:nvSpPr>
          <p:cNvPr id="74" name="文本框 73"/>
          <p:cNvSpPr txBox="1"/>
          <p:nvPr/>
        </p:nvSpPr>
        <p:spPr>
          <a:xfrm>
            <a:off x="7106285" y="5801995"/>
            <a:ext cx="1179830" cy="368300"/>
          </a:xfrm>
          <a:prstGeom prst="rect">
            <a:avLst/>
          </a:prstGeom>
          <a:noFill/>
        </p:spPr>
        <p:txBody>
          <a:bodyPr wrap="square" rtlCol="0">
            <a:spAutoFit/>
          </a:bodyPr>
          <a:p>
            <a:r>
              <a:rPr lang="en-US" altLang="zh-CN"/>
              <a:t>eBPF</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六边形 4"/>
          <p:cNvSpPr/>
          <p:nvPr/>
        </p:nvSpPr>
        <p:spPr>
          <a:xfrm>
            <a:off x="643255" y="660400"/>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六边形 5"/>
          <p:cNvSpPr/>
          <p:nvPr/>
        </p:nvSpPr>
        <p:spPr>
          <a:xfrm>
            <a:off x="2585720" y="660400"/>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六边形 6"/>
          <p:cNvSpPr/>
          <p:nvPr/>
        </p:nvSpPr>
        <p:spPr>
          <a:xfrm>
            <a:off x="4528185" y="660400"/>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798830" y="1124585"/>
            <a:ext cx="1309370" cy="368300"/>
          </a:xfrm>
          <a:prstGeom prst="rect">
            <a:avLst/>
          </a:prstGeom>
          <a:noFill/>
        </p:spPr>
        <p:txBody>
          <a:bodyPr wrap="square" rtlCol="0">
            <a:spAutoFit/>
          </a:bodyPr>
          <a:p>
            <a:r>
              <a:rPr lang="en-US" altLang="zh-CN"/>
              <a:t>Container1</a:t>
            </a:r>
            <a:endParaRPr lang="en-US" altLang="zh-CN"/>
          </a:p>
        </p:txBody>
      </p:sp>
      <p:sp>
        <p:nvSpPr>
          <p:cNvPr id="12" name="文本框 11"/>
          <p:cNvSpPr txBox="1"/>
          <p:nvPr/>
        </p:nvSpPr>
        <p:spPr>
          <a:xfrm>
            <a:off x="2755265" y="1124585"/>
            <a:ext cx="1309370" cy="368300"/>
          </a:xfrm>
          <a:prstGeom prst="rect">
            <a:avLst/>
          </a:prstGeom>
          <a:noFill/>
        </p:spPr>
        <p:txBody>
          <a:bodyPr wrap="square" rtlCol="0">
            <a:spAutoFit/>
          </a:bodyPr>
          <a:p>
            <a:r>
              <a:rPr lang="en-US" altLang="zh-CN"/>
              <a:t>Container2</a:t>
            </a:r>
            <a:endParaRPr lang="en-US" altLang="zh-CN"/>
          </a:p>
        </p:txBody>
      </p:sp>
      <p:sp>
        <p:nvSpPr>
          <p:cNvPr id="13" name="文本框 12"/>
          <p:cNvSpPr txBox="1"/>
          <p:nvPr/>
        </p:nvSpPr>
        <p:spPr>
          <a:xfrm>
            <a:off x="4683760" y="1124585"/>
            <a:ext cx="1305560" cy="368300"/>
          </a:xfrm>
          <a:prstGeom prst="rect">
            <a:avLst/>
          </a:prstGeom>
          <a:noFill/>
        </p:spPr>
        <p:txBody>
          <a:bodyPr wrap="square" rtlCol="0">
            <a:spAutoFit/>
          </a:bodyPr>
          <a:p>
            <a:r>
              <a:rPr lang="en-US" altLang="zh-CN"/>
              <a:t>Container3</a:t>
            </a:r>
            <a:endParaRPr lang="en-US" altLang="zh-CN"/>
          </a:p>
        </p:txBody>
      </p:sp>
      <p:cxnSp>
        <p:nvCxnSpPr>
          <p:cNvPr id="14" name="直接连接符 13"/>
          <p:cNvCxnSpPr/>
          <p:nvPr/>
        </p:nvCxnSpPr>
        <p:spPr>
          <a:xfrm>
            <a:off x="1466850" y="1943735"/>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409950" y="1957070"/>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353050" y="1943735"/>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466850" y="2501265"/>
            <a:ext cx="39020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a:off x="3411855" y="2501265"/>
            <a:ext cx="0" cy="4019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8" name="图片 7" descr="eBPF"/>
          <p:cNvPicPr>
            <a:picLocks noChangeAspect="1"/>
          </p:cNvPicPr>
          <p:nvPr/>
        </p:nvPicPr>
        <p:blipFill>
          <a:blip r:embed="rId1"/>
          <a:stretch>
            <a:fillRect/>
          </a:stretch>
        </p:blipFill>
        <p:spPr>
          <a:xfrm>
            <a:off x="2786380" y="2903220"/>
            <a:ext cx="1219200" cy="1219200"/>
          </a:xfrm>
          <a:prstGeom prst="rect">
            <a:avLst/>
          </a:prstGeom>
        </p:spPr>
      </p:pic>
      <p:sp>
        <p:nvSpPr>
          <p:cNvPr id="10" name="圆角矩形 9"/>
          <p:cNvSpPr/>
          <p:nvPr/>
        </p:nvSpPr>
        <p:spPr>
          <a:xfrm>
            <a:off x="404495" y="2708910"/>
            <a:ext cx="11330305" cy="3318510"/>
          </a:xfrm>
          <a:prstGeom prst="roundRect">
            <a:avLst/>
          </a:prstGeom>
          <a:noFill/>
          <a:ln>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7" name="直接箭头连接符 16"/>
          <p:cNvCxnSpPr>
            <a:stCxn id="8" idx="2"/>
          </p:cNvCxnSpPr>
          <p:nvPr/>
        </p:nvCxnSpPr>
        <p:spPr>
          <a:xfrm>
            <a:off x="3395980" y="4122420"/>
            <a:ext cx="0" cy="3492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a:xfrm>
            <a:off x="2439670" y="4471670"/>
            <a:ext cx="1970405" cy="4800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023235" y="4524375"/>
            <a:ext cx="1183005" cy="368300"/>
          </a:xfrm>
          <a:prstGeom prst="rect">
            <a:avLst/>
          </a:prstGeom>
          <a:noFill/>
        </p:spPr>
        <p:txBody>
          <a:bodyPr wrap="square" rtlCol="0">
            <a:spAutoFit/>
          </a:bodyPr>
          <a:p>
            <a:r>
              <a:rPr lang="en-US" altLang="zh-CN"/>
              <a:t>syscall</a:t>
            </a:r>
            <a:endParaRPr lang="en-US" altLang="zh-CN"/>
          </a:p>
        </p:txBody>
      </p:sp>
      <p:cxnSp>
        <p:nvCxnSpPr>
          <p:cNvPr id="22" name="直接箭头连接符 21"/>
          <p:cNvCxnSpPr>
            <a:stCxn id="19" idx="2"/>
          </p:cNvCxnSpPr>
          <p:nvPr/>
        </p:nvCxnSpPr>
        <p:spPr>
          <a:xfrm>
            <a:off x="3425190" y="4951730"/>
            <a:ext cx="0" cy="3625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圆角矩形 22"/>
          <p:cNvSpPr/>
          <p:nvPr/>
        </p:nvSpPr>
        <p:spPr>
          <a:xfrm>
            <a:off x="2440305" y="5300980"/>
            <a:ext cx="1970405" cy="4800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文本框 23"/>
          <p:cNvSpPr txBox="1"/>
          <p:nvPr/>
        </p:nvSpPr>
        <p:spPr>
          <a:xfrm>
            <a:off x="3023235" y="5360670"/>
            <a:ext cx="1581785" cy="368300"/>
          </a:xfrm>
          <a:prstGeom prst="rect">
            <a:avLst/>
          </a:prstGeom>
          <a:noFill/>
        </p:spPr>
        <p:txBody>
          <a:bodyPr wrap="square" rtlCol="0">
            <a:spAutoFit/>
          </a:bodyPr>
          <a:p>
            <a:r>
              <a:rPr lang="en-US" altLang="zh-CN"/>
              <a:t>kernel</a:t>
            </a:r>
            <a:endParaRPr lang="en-US" altLang="zh-CN"/>
          </a:p>
        </p:txBody>
      </p:sp>
      <p:cxnSp>
        <p:nvCxnSpPr>
          <p:cNvPr id="25" name="直接连接符 24"/>
          <p:cNvCxnSpPr>
            <a:stCxn id="8" idx="3"/>
          </p:cNvCxnSpPr>
          <p:nvPr/>
        </p:nvCxnSpPr>
        <p:spPr>
          <a:xfrm>
            <a:off x="4005580" y="3512820"/>
            <a:ext cx="1390015"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圆角矩形 25"/>
          <p:cNvSpPr/>
          <p:nvPr/>
        </p:nvSpPr>
        <p:spPr>
          <a:xfrm>
            <a:off x="5353050" y="3260090"/>
            <a:ext cx="3344545" cy="50609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文本框 26"/>
          <p:cNvSpPr txBox="1"/>
          <p:nvPr/>
        </p:nvSpPr>
        <p:spPr>
          <a:xfrm>
            <a:off x="5658485" y="3359150"/>
            <a:ext cx="2734310" cy="306705"/>
          </a:xfrm>
          <a:prstGeom prst="rect">
            <a:avLst/>
          </a:prstGeom>
          <a:noFill/>
        </p:spPr>
        <p:txBody>
          <a:bodyPr wrap="square" rtlCol="0">
            <a:spAutoFit/>
          </a:bodyPr>
          <a:p>
            <a:r>
              <a:rPr lang="en-US" altLang="zh-CN" sz="1400"/>
              <a:t>tracepoint:raw_syscall:sysenter</a:t>
            </a:r>
            <a:endParaRPr lang="en-US" altLang="zh-CN" sz="1400"/>
          </a:p>
        </p:txBody>
      </p:sp>
      <p:cxnSp>
        <p:nvCxnSpPr>
          <p:cNvPr id="28" name="直接箭头连接符 27"/>
          <p:cNvCxnSpPr>
            <a:stCxn id="26" idx="2"/>
          </p:cNvCxnSpPr>
          <p:nvPr/>
        </p:nvCxnSpPr>
        <p:spPr>
          <a:xfrm>
            <a:off x="7025640" y="3766185"/>
            <a:ext cx="0" cy="3035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圆角矩形 28"/>
          <p:cNvSpPr/>
          <p:nvPr/>
        </p:nvSpPr>
        <p:spPr>
          <a:xfrm>
            <a:off x="5368925" y="4082415"/>
            <a:ext cx="3344545" cy="50609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文本框 29"/>
          <p:cNvSpPr txBox="1"/>
          <p:nvPr/>
        </p:nvSpPr>
        <p:spPr>
          <a:xfrm>
            <a:off x="5658485" y="4199255"/>
            <a:ext cx="3020695" cy="306705"/>
          </a:xfrm>
          <a:prstGeom prst="rect">
            <a:avLst/>
          </a:prstGeom>
          <a:noFill/>
        </p:spPr>
        <p:txBody>
          <a:bodyPr wrap="square" rtlCol="0">
            <a:spAutoFit/>
          </a:bodyPr>
          <a:p>
            <a:r>
              <a:rPr lang="zh-CN" altLang="en-US" sz="1400"/>
              <a:t>获取</a:t>
            </a:r>
            <a:r>
              <a:rPr lang="en-US" altLang="zh-CN" sz="1400"/>
              <a:t>syscall_id, container_id</a:t>
            </a:r>
            <a:endParaRPr lang="en-US" altLang="zh-CN" sz="1400"/>
          </a:p>
        </p:txBody>
      </p:sp>
      <p:cxnSp>
        <p:nvCxnSpPr>
          <p:cNvPr id="31" name="直接箭头连接符 30"/>
          <p:cNvCxnSpPr>
            <a:stCxn id="29" idx="2"/>
          </p:cNvCxnSpPr>
          <p:nvPr/>
        </p:nvCxnSpPr>
        <p:spPr>
          <a:xfrm>
            <a:off x="7041515" y="4588510"/>
            <a:ext cx="0" cy="2851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圆角矩形 31"/>
          <p:cNvSpPr/>
          <p:nvPr/>
        </p:nvSpPr>
        <p:spPr>
          <a:xfrm>
            <a:off x="5353685" y="4904740"/>
            <a:ext cx="3344545" cy="50609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 name="文本框 32"/>
          <p:cNvSpPr txBox="1"/>
          <p:nvPr/>
        </p:nvSpPr>
        <p:spPr>
          <a:xfrm>
            <a:off x="5956935" y="4976495"/>
            <a:ext cx="2722245" cy="306705"/>
          </a:xfrm>
          <a:prstGeom prst="rect">
            <a:avLst/>
          </a:prstGeom>
          <a:noFill/>
        </p:spPr>
        <p:txBody>
          <a:bodyPr wrap="square" rtlCol="0">
            <a:spAutoFit/>
          </a:bodyPr>
          <a:p>
            <a:r>
              <a:rPr lang="zh-CN" altLang="en-US" sz="1400"/>
              <a:t>查找对应项并</a:t>
            </a:r>
            <a:r>
              <a:rPr lang="zh-CN" altLang="en-US" sz="1400"/>
              <a:t>累加次数</a:t>
            </a:r>
            <a:endParaRPr lang="zh-CN" altLang="en-US" sz="1400"/>
          </a:p>
        </p:txBody>
      </p:sp>
      <p:sp>
        <p:nvSpPr>
          <p:cNvPr id="34" name="正五边形 33"/>
          <p:cNvSpPr/>
          <p:nvPr/>
        </p:nvSpPr>
        <p:spPr>
          <a:xfrm>
            <a:off x="9027795" y="219710"/>
            <a:ext cx="2087245" cy="1737360"/>
          </a:xfrm>
          <a:prstGeom prst="pentagon">
            <a:avLst/>
          </a:prstGeom>
          <a:solidFill>
            <a:schemeClr val="accent1">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文本框 34"/>
          <p:cNvSpPr txBox="1"/>
          <p:nvPr/>
        </p:nvSpPr>
        <p:spPr>
          <a:xfrm>
            <a:off x="9364980" y="960120"/>
            <a:ext cx="1412875" cy="368300"/>
          </a:xfrm>
          <a:prstGeom prst="rect">
            <a:avLst/>
          </a:prstGeom>
          <a:noFill/>
        </p:spPr>
        <p:txBody>
          <a:bodyPr wrap="square" rtlCol="0">
            <a:spAutoFit/>
          </a:bodyPr>
          <a:p>
            <a:r>
              <a:rPr lang="en-US" altLang="zh-CN"/>
              <a:t>ContGuard</a:t>
            </a:r>
            <a:endParaRPr lang="en-US" altLang="zh-CN"/>
          </a:p>
        </p:txBody>
      </p:sp>
      <p:cxnSp>
        <p:nvCxnSpPr>
          <p:cNvPr id="36" name="直接连接符 35"/>
          <p:cNvCxnSpPr>
            <a:stCxn id="32" idx="2"/>
          </p:cNvCxnSpPr>
          <p:nvPr/>
        </p:nvCxnSpPr>
        <p:spPr>
          <a:xfrm>
            <a:off x="7026275" y="5410835"/>
            <a:ext cx="0" cy="33147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7025640" y="5753735"/>
            <a:ext cx="2324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9336405" y="4212590"/>
            <a:ext cx="0" cy="1542415"/>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9349740" y="4225290"/>
            <a:ext cx="4013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2" name="圆柱形 41"/>
          <p:cNvSpPr/>
          <p:nvPr/>
        </p:nvSpPr>
        <p:spPr>
          <a:xfrm>
            <a:off x="9764395" y="3654425"/>
            <a:ext cx="1581150" cy="2100580"/>
          </a:xfrm>
          <a:prstGeom prst="ca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 name="文本框 42"/>
          <p:cNvSpPr txBox="1"/>
          <p:nvPr/>
        </p:nvSpPr>
        <p:spPr>
          <a:xfrm>
            <a:off x="9997440" y="4251325"/>
            <a:ext cx="1188085" cy="1168400"/>
          </a:xfrm>
          <a:prstGeom prst="rect">
            <a:avLst/>
          </a:prstGeom>
          <a:noFill/>
        </p:spPr>
        <p:txBody>
          <a:bodyPr wrap="square" rtlCol="0">
            <a:spAutoFit/>
          </a:bodyPr>
          <a:p>
            <a:r>
              <a:rPr lang="en-US" altLang="zh-CN" sz="1400" b="1"/>
              <a:t>key</a:t>
            </a:r>
            <a:r>
              <a:rPr lang="zh-CN" altLang="en-US" sz="1400" b="1"/>
              <a:t>：</a:t>
            </a:r>
            <a:endParaRPr lang="zh-CN" altLang="en-US" sz="1400"/>
          </a:p>
          <a:p>
            <a:r>
              <a:rPr lang="en-US" altLang="zh-CN" sz="1400"/>
              <a:t>syscall_id</a:t>
            </a:r>
            <a:endParaRPr lang="en-US" altLang="zh-CN" sz="1400"/>
          </a:p>
          <a:p>
            <a:r>
              <a:rPr lang="en-US" altLang="zh-CN" sz="1400"/>
              <a:t>container_id</a:t>
            </a:r>
            <a:endParaRPr lang="en-US" altLang="zh-CN" sz="1400"/>
          </a:p>
          <a:p>
            <a:r>
              <a:rPr lang="en-US" altLang="zh-CN" sz="1400" b="1"/>
              <a:t>value:</a:t>
            </a:r>
            <a:endParaRPr lang="en-US" altLang="zh-CN" sz="1400"/>
          </a:p>
          <a:p>
            <a:r>
              <a:rPr lang="en-US" altLang="zh-CN" sz="1400"/>
              <a:t>counts</a:t>
            </a:r>
            <a:endParaRPr lang="en-US" altLang="zh-CN" sz="1400"/>
          </a:p>
        </p:txBody>
      </p:sp>
      <p:cxnSp>
        <p:nvCxnSpPr>
          <p:cNvPr id="44" name="直接箭头连接符 43"/>
          <p:cNvCxnSpPr/>
          <p:nvPr/>
        </p:nvCxnSpPr>
        <p:spPr>
          <a:xfrm>
            <a:off x="7287895" y="880745"/>
            <a:ext cx="17399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7287895" y="880745"/>
            <a:ext cx="0" cy="1517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7287895" y="2384425"/>
            <a:ext cx="32670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10551160" y="2371725"/>
            <a:ext cx="0" cy="7912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7456805" y="2034540"/>
            <a:ext cx="1607185" cy="306705"/>
          </a:xfrm>
          <a:prstGeom prst="rect">
            <a:avLst/>
          </a:prstGeom>
          <a:noFill/>
        </p:spPr>
        <p:txBody>
          <a:bodyPr wrap="square" rtlCol="0">
            <a:spAutoFit/>
          </a:bodyPr>
          <a:p>
            <a:r>
              <a:rPr lang="en-US" altLang="zh-CN" sz="1400"/>
              <a:t>syscall:bpf</a:t>
            </a:r>
            <a:endParaRPr lang="en-US" altLang="zh-CN" sz="1400"/>
          </a:p>
        </p:txBody>
      </p:sp>
      <p:sp>
        <p:nvSpPr>
          <p:cNvPr id="49" name="文本框 48"/>
          <p:cNvSpPr txBox="1"/>
          <p:nvPr/>
        </p:nvSpPr>
        <p:spPr>
          <a:xfrm>
            <a:off x="9997440" y="3162935"/>
            <a:ext cx="1620520" cy="368300"/>
          </a:xfrm>
          <a:prstGeom prst="rect">
            <a:avLst/>
          </a:prstGeom>
          <a:noFill/>
        </p:spPr>
        <p:txBody>
          <a:bodyPr wrap="square" rtlCol="0">
            <a:spAutoFit/>
          </a:bodyPr>
          <a:p>
            <a:r>
              <a:rPr lang="en-US" altLang="zh-CN"/>
              <a:t>BPF Map</a:t>
            </a:r>
            <a:endParaRPr lang="en-US" altLang="zh-CN"/>
          </a:p>
        </p:txBody>
      </p:sp>
      <p:sp>
        <p:nvSpPr>
          <p:cNvPr id="2" name="文本框 1"/>
          <p:cNvSpPr txBox="1"/>
          <p:nvPr/>
        </p:nvSpPr>
        <p:spPr>
          <a:xfrm>
            <a:off x="386715" y="122555"/>
            <a:ext cx="2399665" cy="398780"/>
          </a:xfrm>
          <a:prstGeom prst="rect">
            <a:avLst/>
          </a:prstGeom>
          <a:noFill/>
        </p:spPr>
        <p:txBody>
          <a:bodyPr wrap="square" rtlCol="0">
            <a:spAutoFit/>
          </a:bodyPr>
          <a:p>
            <a:r>
              <a:rPr lang="zh-CN" altLang="en-US" sz="2000" b="1">
                <a:latin typeface="+mj-lt"/>
                <a:ea typeface="+mj-lt"/>
              </a:rPr>
              <a:t>系统调用</a:t>
            </a:r>
            <a:endParaRPr lang="zh-CN" altLang="en-US" sz="2000" b="1">
              <a:latin typeface="+mj-lt"/>
              <a:ea typeface="+mj-lt"/>
            </a:endParaRPr>
          </a:p>
        </p:txBody>
      </p:sp>
      <p:sp>
        <p:nvSpPr>
          <p:cNvPr id="3" name="文本框 2"/>
          <p:cNvSpPr txBox="1"/>
          <p:nvPr/>
        </p:nvSpPr>
        <p:spPr>
          <a:xfrm>
            <a:off x="5496560" y="2903220"/>
            <a:ext cx="3344545" cy="275590"/>
          </a:xfrm>
          <a:prstGeom prst="rect">
            <a:avLst/>
          </a:prstGeom>
          <a:noFill/>
        </p:spPr>
        <p:txBody>
          <a:bodyPr wrap="square" rtlCol="0">
            <a:spAutoFit/>
          </a:bodyPr>
          <a:p>
            <a:r>
              <a:rPr lang="zh-CN" altLang="en-US" sz="1200"/>
              <a:t>记录每次系统调用进入内核时的详细信息</a:t>
            </a:r>
            <a:endParaRPr lang="zh-CN" altLang="en-US" sz="1200"/>
          </a:p>
        </p:txBody>
      </p:sp>
      <p:cxnSp>
        <p:nvCxnSpPr>
          <p:cNvPr id="11" name="直接连接符 10"/>
          <p:cNvCxnSpPr>
            <a:stCxn id="42" idx="3"/>
          </p:cNvCxnSpPr>
          <p:nvPr/>
        </p:nvCxnSpPr>
        <p:spPr>
          <a:xfrm>
            <a:off x="10554970" y="5755005"/>
            <a:ext cx="0" cy="50546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圆角矩形 20"/>
          <p:cNvSpPr/>
          <p:nvPr/>
        </p:nvSpPr>
        <p:spPr>
          <a:xfrm>
            <a:off x="7971155" y="6260465"/>
            <a:ext cx="3995420" cy="523240"/>
          </a:xfrm>
          <a:prstGeom prst="roundRect">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文本框 37"/>
          <p:cNvSpPr txBox="1"/>
          <p:nvPr/>
        </p:nvSpPr>
        <p:spPr>
          <a:xfrm>
            <a:off x="8062595" y="6260465"/>
            <a:ext cx="3812540" cy="521970"/>
          </a:xfrm>
          <a:prstGeom prst="rect">
            <a:avLst/>
          </a:prstGeom>
          <a:noFill/>
        </p:spPr>
        <p:txBody>
          <a:bodyPr wrap="square" rtlCol="0">
            <a:spAutoFit/>
          </a:bodyPr>
          <a:p>
            <a:r>
              <a:rPr lang="zh-CN" altLang="en-US" sz="1400"/>
              <a:t>记录在 syscall_key_t 结构中，统计系统调用的执行次数</a:t>
            </a:r>
            <a:endParaRPr lang="zh-CN"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六边形 4"/>
          <p:cNvSpPr/>
          <p:nvPr/>
        </p:nvSpPr>
        <p:spPr>
          <a:xfrm>
            <a:off x="1550670" y="660400"/>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六边形 5"/>
          <p:cNvSpPr/>
          <p:nvPr/>
        </p:nvSpPr>
        <p:spPr>
          <a:xfrm>
            <a:off x="3493135" y="660400"/>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六边形 6"/>
          <p:cNvSpPr/>
          <p:nvPr/>
        </p:nvSpPr>
        <p:spPr>
          <a:xfrm>
            <a:off x="5435600" y="660400"/>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1706245" y="1124585"/>
            <a:ext cx="1309370" cy="368300"/>
          </a:xfrm>
          <a:prstGeom prst="rect">
            <a:avLst/>
          </a:prstGeom>
          <a:noFill/>
        </p:spPr>
        <p:txBody>
          <a:bodyPr wrap="square" rtlCol="0">
            <a:spAutoFit/>
          </a:bodyPr>
          <a:p>
            <a:r>
              <a:rPr lang="en-US" altLang="zh-CN"/>
              <a:t>Container1</a:t>
            </a:r>
            <a:endParaRPr lang="en-US" altLang="zh-CN"/>
          </a:p>
        </p:txBody>
      </p:sp>
      <p:sp>
        <p:nvSpPr>
          <p:cNvPr id="12" name="文本框 11"/>
          <p:cNvSpPr txBox="1"/>
          <p:nvPr/>
        </p:nvSpPr>
        <p:spPr>
          <a:xfrm>
            <a:off x="3662680" y="1124585"/>
            <a:ext cx="1309370" cy="368300"/>
          </a:xfrm>
          <a:prstGeom prst="rect">
            <a:avLst/>
          </a:prstGeom>
          <a:noFill/>
        </p:spPr>
        <p:txBody>
          <a:bodyPr wrap="square" rtlCol="0">
            <a:spAutoFit/>
          </a:bodyPr>
          <a:p>
            <a:r>
              <a:rPr lang="en-US" altLang="zh-CN"/>
              <a:t>Container2</a:t>
            </a:r>
            <a:endParaRPr lang="en-US" altLang="zh-CN"/>
          </a:p>
        </p:txBody>
      </p:sp>
      <p:sp>
        <p:nvSpPr>
          <p:cNvPr id="13" name="文本框 12"/>
          <p:cNvSpPr txBox="1"/>
          <p:nvPr/>
        </p:nvSpPr>
        <p:spPr>
          <a:xfrm>
            <a:off x="5591175" y="1124585"/>
            <a:ext cx="1305560" cy="368300"/>
          </a:xfrm>
          <a:prstGeom prst="rect">
            <a:avLst/>
          </a:prstGeom>
          <a:noFill/>
        </p:spPr>
        <p:txBody>
          <a:bodyPr wrap="square" rtlCol="0">
            <a:spAutoFit/>
          </a:bodyPr>
          <a:p>
            <a:r>
              <a:rPr lang="en-US" altLang="zh-CN"/>
              <a:t>Container3</a:t>
            </a:r>
            <a:endParaRPr lang="en-US" altLang="zh-CN"/>
          </a:p>
        </p:txBody>
      </p:sp>
      <p:cxnSp>
        <p:nvCxnSpPr>
          <p:cNvPr id="14" name="直接连接符 13"/>
          <p:cNvCxnSpPr/>
          <p:nvPr/>
        </p:nvCxnSpPr>
        <p:spPr>
          <a:xfrm>
            <a:off x="2374265" y="1943735"/>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317365" y="1957070"/>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260465" y="1943735"/>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374265" y="2501265"/>
            <a:ext cx="3902075"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正五边形 33"/>
          <p:cNvSpPr/>
          <p:nvPr/>
        </p:nvSpPr>
        <p:spPr>
          <a:xfrm>
            <a:off x="8314690" y="660400"/>
            <a:ext cx="2087245" cy="1737360"/>
          </a:xfrm>
          <a:prstGeom prst="pentagon">
            <a:avLst/>
          </a:prstGeom>
          <a:solidFill>
            <a:schemeClr val="accent1">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文本框 34"/>
          <p:cNvSpPr txBox="1"/>
          <p:nvPr/>
        </p:nvSpPr>
        <p:spPr>
          <a:xfrm>
            <a:off x="8651875" y="1400810"/>
            <a:ext cx="1412875" cy="368300"/>
          </a:xfrm>
          <a:prstGeom prst="rect">
            <a:avLst/>
          </a:prstGeom>
          <a:noFill/>
        </p:spPr>
        <p:txBody>
          <a:bodyPr wrap="square" rtlCol="0">
            <a:spAutoFit/>
          </a:bodyPr>
          <a:p>
            <a:r>
              <a:rPr lang="en-US" altLang="zh-CN"/>
              <a:t>ContGuard</a:t>
            </a:r>
            <a:endParaRPr lang="en-US" altLang="zh-CN"/>
          </a:p>
        </p:txBody>
      </p:sp>
      <p:cxnSp>
        <p:nvCxnSpPr>
          <p:cNvPr id="4" name="直接箭头连接符 3"/>
          <p:cNvCxnSpPr/>
          <p:nvPr/>
        </p:nvCxnSpPr>
        <p:spPr>
          <a:xfrm>
            <a:off x="4319270" y="2487930"/>
            <a:ext cx="0" cy="4152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圆角矩形 7"/>
          <p:cNvSpPr/>
          <p:nvPr/>
        </p:nvSpPr>
        <p:spPr>
          <a:xfrm>
            <a:off x="3028950" y="2903220"/>
            <a:ext cx="2592705" cy="40195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3542665" y="2903220"/>
            <a:ext cx="2048510" cy="368300"/>
          </a:xfrm>
          <a:prstGeom prst="rect">
            <a:avLst/>
          </a:prstGeom>
          <a:noFill/>
        </p:spPr>
        <p:txBody>
          <a:bodyPr wrap="square" rtlCol="0">
            <a:spAutoFit/>
          </a:bodyPr>
          <a:p>
            <a:r>
              <a:rPr lang="en-US" altLang="zh-CN"/>
              <a:t>syscall:exec</a:t>
            </a:r>
            <a:endParaRPr lang="en-US" altLang="zh-CN"/>
          </a:p>
        </p:txBody>
      </p:sp>
      <p:cxnSp>
        <p:nvCxnSpPr>
          <p:cNvPr id="11" name="直接连接符 10"/>
          <p:cNvCxnSpPr>
            <a:stCxn id="8" idx="2"/>
          </p:cNvCxnSpPr>
          <p:nvPr/>
        </p:nvCxnSpPr>
        <p:spPr>
          <a:xfrm>
            <a:off x="4325620" y="3305175"/>
            <a:ext cx="0" cy="596265"/>
          </a:xfrm>
          <a:prstGeom prst="line">
            <a:avLst/>
          </a:prstGeom>
        </p:spPr>
        <p:style>
          <a:lnRef idx="1">
            <a:schemeClr val="accent1"/>
          </a:lnRef>
          <a:fillRef idx="0">
            <a:schemeClr val="accent1"/>
          </a:fillRef>
          <a:effectRef idx="0">
            <a:schemeClr val="accent1"/>
          </a:effectRef>
          <a:fontRef idx="minor">
            <a:schemeClr val="tx1"/>
          </a:fontRef>
        </p:style>
      </p:cxnSp>
      <p:sp>
        <p:nvSpPr>
          <p:cNvPr id="17" name="圆角矩形 16"/>
          <p:cNvSpPr/>
          <p:nvPr/>
        </p:nvSpPr>
        <p:spPr>
          <a:xfrm>
            <a:off x="871220" y="3659505"/>
            <a:ext cx="10695305" cy="2601595"/>
          </a:xfrm>
          <a:prstGeom prst="roundRect">
            <a:avLst/>
          </a:prstGeom>
          <a:noFill/>
          <a:ln w="19050">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9" name="图片 18" descr="eBPF"/>
          <p:cNvPicPr>
            <a:picLocks noChangeAspect="1"/>
          </p:cNvPicPr>
          <p:nvPr/>
        </p:nvPicPr>
        <p:blipFill>
          <a:blip r:embed="rId1"/>
          <a:stretch>
            <a:fillRect/>
          </a:stretch>
        </p:blipFill>
        <p:spPr>
          <a:xfrm>
            <a:off x="3763010" y="3898265"/>
            <a:ext cx="908050" cy="908050"/>
          </a:xfrm>
          <a:prstGeom prst="rect">
            <a:avLst/>
          </a:prstGeom>
        </p:spPr>
      </p:pic>
      <p:cxnSp>
        <p:nvCxnSpPr>
          <p:cNvPr id="20" name="直接箭头连接符 19"/>
          <p:cNvCxnSpPr/>
          <p:nvPr/>
        </p:nvCxnSpPr>
        <p:spPr>
          <a:xfrm>
            <a:off x="4325620" y="4912360"/>
            <a:ext cx="0" cy="4406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圆角矩形 20"/>
          <p:cNvSpPr/>
          <p:nvPr/>
        </p:nvSpPr>
        <p:spPr>
          <a:xfrm>
            <a:off x="3171190" y="5340350"/>
            <a:ext cx="2255520" cy="40195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文本框 21"/>
          <p:cNvSpPr txBox="1"/>
          <p:nvPr/>
        </p:nvSpPr>
        <p:spPr>
          <a:xfrm>
            <a:off x="3580130" y="5339715"/>
            <a:ext cx="1854200" cy="368300"/>
          </a:xfrm>
          <a:prstGeom prst="rect">
            <a:avLst/>
          </a:prstGeom>
          <a:noFill/>
        </p:spPr>
        <p:txBody>
          <a:bodyPr wrap="square" rtlCol="0">
            <a:spAutoFit/>
          </a:bodyPr>
          <a:p>
            <a:r>
              <a:rPr lang="en-US" altLang="zh-CN"/>
              <a:t>sys_execve</a:t>
            </a:r>
            <a:endParaRPr lang="en-US" altLang="zh-CN"/>
          </a:p>
        </p:txBody>
      </p:sp>
      <p:sp>
        <p:nvSpPr>
          <p:cNvPr id="23" name="文本框 22"/>
          <p:cNvSpPr txBox="1"/>
          <p:nvPr/>
        </p:nvSpPr>
        <p:spPr>
          <a:xfrm>
            <a:off x="1119505" y="3898265"/>
            <a:ext cx="1452245" cy="460375"/>
          </a:xfrm>
          <a:prstGeom prst="rect">
            <a:avLst/>
          </a:prstGeom>
          <a:noFill/>
        </p:spPr>
        <p:txBody>
          <a:bodyPr wrap="square" rtlCol="0">
            <a:spAutoFit/>
          </a:bodyPr>
          <a:p>
            <a:r>
              <a:rPr lang="en-US" altLang="zh-CN" sz="2400" b="1">
                <a:latin typeface="+mj-lt"/>
                <a:cs typeface="+mj-lt"/>
              </a:rPr>
              <a:t>Kernel</a:t>
            </a:r>
            <a:endParaRPr lang="en-US" altLang="zh-CN" sz="2400" b="1">
              <a:latin typeface="+mj-lt"/>
              <a:cs typeface="+mj-lt"/>
            </a:endParaRPr>
          </a:p>
        </p:txBody>
      </p:sp>
      <p:cxnSp>
        <p:nvCxnSpPr>
          <p:cNvPr id="24" name="直接箭头连接符 23"/>
          <p:cNvCxnSpPr/>
          <p:nvPr/>
        </p:nvCxnSpPr>
        <p:spPr>
          <a:xfrm>
            <a:off x="4708525" y="4199255"/>
            <a:ext cx="95885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圆角矩形 24"/>
          <p:cNvSpPr/>
          <p:nvPr/>
        </p:nvSpPr>
        <p:spPr>
          <a:xfrm>
            <a:off x="5680710" y="4069715"/>
            <a:ext cx="2566670" cy="349885"/>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圆角矩形 25"/>
          <p:cNvSpPr/>
          <p:nvPr/>
        </p:nvSpPr>
        <p:spPr>
          <a:xfrm>
            <a:off x="5706745" y="4719955"/>
            <a:ext cx="2566670" cy="349885"/>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圆角矩形 26"/>
          <p:cNvSpPr/>
          <p:nvPr/>
        </p:nvSpPr>
        <p:spPr>
          <a:xfrm>
            <a:off x="5706745" y="5366385"/>
            <a:ext cx="2566670" cy="349885"/>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文本框 27"/>
          <p:cNvSpPr txBox="1"/>
          <p:nvPr/>
        </p:nvSpPr>
        <p:spPr>
          <a:xfrm>
            <a:off x="5991860" y="4091305"/>
            <a:ext cx="2281555" cy="306705"/>
          </a:xfrm>
          <a:prstGeom prst="rect">
            <a:avLst/>
          </a:prstGeom>
          <a:noFill/>
        </p:spPr>
        <p:txBody>
          <a:bodyPr wrap="square" rtlCol="0">
            <a:spAutoFit/>
          </a:bodyPr>
          <a:p>
            <a:r>
              <a:rPr lang="en-US" altLang="zh-CN" sz="1400"/>
              <a:t>kprobe:sys_execve</a:t>
            </a:r>
            <a:endParaRPr lang="en-US" altLang="zh-CN" sz="1400"/>
          </a:p>
        </p:txBody>
      </p:sp>
      <p:cxnSp>
        <p:nvCxnSpPr>
          <p:cNvPr id="29" name="直接箭头连接符 28"/>
          <p:cNvCxnSpPr/>
          <p:nvPr/>
        </p:nvCxnSpPr>
        <p:spPr>
          <a:xfrm>
            <a:off x="6990080" y="4419600"/>
            <a:ext cx="0" cy="3073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6" idx="2"/>
          </p:cNvCxnSpPr>
          <p:nvPr/>
        </p:nvCxnSpPr>
        <p:spPr>
          <a:xfrm>
            <a:off x="6990080" y="5069840"/>
            <a:ext cx="0" cy="2965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862320" y="4744720"/>
            <a:ext cx="2475865" cy="306705"/>
          </a:xfrm>
          <a:prstGeom prst="rect">
            <a:avLst/>
          </a:prstGeom>
          <a:noFill/>
        </p:spPr>
        <p:txBody>
          <a:bodyPr wrap="square" rtlCol="0">
            <a:spAutoFit/>
          </a:bodyPr>
          <a:p>
            <a:r>
              <a:rPr lang="zh-CN" altLang="en-US" sz="1400"/>
              <a:t>获取当前进程</a:t>
            </a:r>
            <a:r>
              <a:rPr lang="en-US" altLang="zh-CN" sz="1400"/>
              <a:t>pid</a:t>
            </a:r>
            <a:r>
              <a:rPr lang="zh-CN" altLang="en-US" sz="1400"/>
              <a:t>，容器</a:t>
            </a:r>
            <a:r>
              <a:rPr lang="en-US" altLang="zh-CN" sz="1400"/>
              <a:t>id</a:t>
            </a:r>
            <a:endParaRPr lang="en-US" altLang="zh-CN" sz="1400"/>
          </a:p>
        </p:txBody>
      </p:sp>
      <p:sp>
        <p:nvSpPr>
          <p:cNvPr id="32" name="文本框 31"/>
          <p:cNvSpPr txBox="1"/>
          <p:nvPr/>
        </p:nvSpPr>
        <p:spPr>
          <a:xfrm>
            <a:off x="5888355" y="5391785"/>
            <a:ext cx="2385060" cy="306705"/>
          </a:xfrm>
          <a:prstGeom prst="rect">
            <a:avLst/>
          </a:prstGeom>
          <a:noFill/>
        </p:spPr>
        <p:txBody>
          <a:bodyPr wrap="square" rtlCol="0">
            <a:spAutoFit/>
          </a:bodyPr>
          <a:p>
            <a:r>
              <a:rPr lang="zh-CN" altLang="en-US" sz="1400"/>
              <a:t>提取</a:t>
            </a:r>
            <a:r>
              <a:rPr lang="en-US" altLang="zh-CN" sz="1400"/>
              <a:t>filename</a:t>
            </a:r>
            <a:r>
              <a:rPr lang="zh-CN" altLang="en-US" sz="1400"/>
              <a:t>，</a:t>
            </a:r>
            <a:r>
              <a:rPr lang="en-US" altLang="zh-CN" sz="1400"/>
              <a:t>argv</a:t>
            </a:r>
            <a:r>
              <a:rPr lang="zh-CN" altLang="en-US" sz="1400"/>
              <a:t>参数</a:t>
            </a:r>
            <a:endParaRPr lang="zh-CN" altLang="en-US" sz="1400"/>
          </a:p>
        </p:txBody>
      </p:sp>
      <p:cxnSp>
        <p:nvCxnSpPr>
          <p:cNvPr id="33" name="直接连接符 32"/>
          <p:cNvCxnSpPr>
            <a:stCxn id="27" idx="2"/>
          </p:cNvCxnSpPr>
          <p:nvPr/>
        </p:nvCxnSpPr>
        <p:spPr>
          <a:xfrm>
            <a:off x="6990080" y="5716270"/>
            <a:ext cx="0" cy="389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990080" y="6092825"/>
            <a:ext cx="4161155"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8247380" y="5798820"/>
            <a:ext cx="1490980" cy="306705"/>
          </a:xfrm>
          <a:prstGeom prst="rect">
            <a:avLst/>
          </a:prstGeom>
          <a:noFill/>
        </p:spPr>
        <p:txBody>
          <a:bodyPr wrap="square" rtlCol="0">
            <a:spAutoFit/>
          </a:bodyPr>
          <a:p>
            <a:r>
              <a:rPr lang="en-US" altLang="zh-CN" sz="1400"/>
              <a:t>perf_event</a:t>
            </a:r>
            <a:endParaRPr lang="en-US" altLang="zh-CN" sz="1400"/>
          </a:p>
        </p:txBody>
      </p:sp>
      <p:cxnSp>
        <p:nvCxnSpPr>
          <p:cNvPr id="38" name="直接连接符 37"/>
          <p:cNvCxnSpPr/>
          <p:nvPr/>
        </p:nvCxnSpPr>
        <p:spPr>
          <a:xfrm flipV="1">
            <a:off x="11151235" y="1321435"/>
            <a:ext cx="0" cy="47580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H="1">
            <a:off x="10388600" y="1308735"/>
            <a:ext cx="76263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70535" y="243205"/>
            <a:ext cx="1632585" cy="706755"/>
          </a:xfrm>
          <a:prstGeom prst="rect">
            <a:avLst/>
          </a:prstGeom>
          <a:noFill/>
        </p:spPr>
        <p:txBody>
          <a:bodyPr wrap="square" rtlCol="0">
            <a:spAutoFit/>
          </a:bodyPr>
          <a:p>
            <a:r>
              <a:rPr lang="zh-CN" altLang="en-US" sz="2000" b="1">
                <a:latin typeface="+mj-lt"/>
                <a:ea typeface="+mj-lt"/>
              </a:rPr>
              <a:t>程序执行</a:t>
            </a:r>
            <a:endParaRPr lang="zh-CN" altLang="en-US" sz="2000" b="1">
              <a:latin typeface="+mj-lt"/>
              <a:ea typeface="+mj-lt"/>
            </a:endParaRPr>
          </a:p>
          <a:p>
            <a:endParaRPr lang="zh-CN" altLang="en-US" sz="2000"/>
          </a:p>
        </p:txBody>
      </p:sp>
      <p:sp>
        <p:nvSpPr>
          <p:cNvPr id="3" name="文本框 2"/>
          <p:cNvSpPr txBox="1"/>
          <p:nvPr/>
        </p:nvSpPr>
        <p:spPr>
          <a:xfrm>
            <a:off x="1186180" y="4695825"/>
            <a:ext cx="1633220" cy="1168400"/>
          </a:xfrm>
          <a:prstGeom prst="rect">
            <a:avLst/>
          </a:prstGeom>
          <a:noFill/>
        </p:spPr>
        <p:txBody>
          <a:bodyPr wrap="square" rtlCol="0">
            <a:spAutoFit/>
          </a:bodyPr>
          <a:p>
            <a:r>
              <a:rPr lang="zh-CN" altLang="en-US" sz="1400"/>
              <a:t>当 exec 系统调用被执行时，附加的 BPF 程序函数 syscall_execve 将被触发</a:t>
            </a:r>
            <a:endParaRPr lang="zh-CN" altLang="en-US" sz="1400"/>
          </a:p>
        </p:txBody>
      </p:sp>
      <p:sp>
        <p:nvSpPr>
          <p:cNvPr id="40" name="文本框 39"/>
          <p:cNvSpPr txBox="1"/>
          <p:nvPr/>
        </p:nvSpPr>
        <p:spPr>
          <a:xfrm>
            <a:off x="8433435" y="4006850"/>
            <a:ext cx="2717800" cy="460375"/>
          </a:xfrm>
          <a:prstGeom prst="rect">
            <a:avLst/>
          </a:prstGeom>
          <a:noFill/>
        </p:spPr>
        <p:txBody>
          <a:bodyPr wrap="square" rtlCol="0">
            <a:spAutoFit/>
          </a:bodyPr>
          <a:p>
            <a:r>
              <a:rPr lang="zh-CN" altLang="en-US" sz="1200"/>
              <a:t>通过kprobe挂载到execve系统调用执行点</a:t>
            </a:r>
            <a:endParaRPr lang="zh-CN" alt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 name="正五边形 33"/>
          <p:cNvSpPr/>
          <p:nvPr/>
        </p:nvSpPr>
        <p:spPr>
          <a:xfrm>
            <a:off x="433070" y="806450"/>
            <a:ext cx="2087245" cy="1737360"/>
          </a:xfrm>
          <a:prstGeom prst="pentagon">
            <a:avLst/>
          </a:prstGeom>
          <a:solidFill>
            <a:schemeClr val="accent1">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文本框 34"/>
          <p:cNvSpPr txBox="1"/>
          <p:nvPr/>
        </p:nvSpPr>
        <p:spPr>
          <a:xfrm>
            <a:off x="770255" y="1546860"/>
            <a:ext cx="1412875" cy="368300"/>
          </a:xfrm>
          <a:prstGeom prst="rect">
            <a:avLst/>
          </a:prstGeom>
          <a:noFill/>
        </p:spPr>
        <p:txBody>
          <a:bodyPr wrap="square" rtlCol="0">
            <a:spAutoFit/>
          </a:bodyPr>
          <a:p>
            <a:r>
              <a:rPr lang="en-US" altLang="zh-CN"/>
              <a:t>ContGuard</a:t>
            </a:r>
            <a:endParaRPr lang="en-US" altLang="zh-CN"/>
          </a:p>
        </p:txBody>
      </p:sp>
      <p:sp>
        <p:nvSpPr>
          <p:cNvPr id="5" name="六边形 4"/>
          <p:cNvSpPr/>
          <p:nvPr/>
        </p:nvSpPr>
        <p:spPr>
          <a:xfrm>
            <a:off x="4559300" y="689610"/>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六边形 5"/>
          <p:cNvSpPr/>
          <p:nvPr/>
        </p:nvSpPr>
        <p:spPr>
          <a:xfrm>
            <a:off x="6501765" y="689610"/>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六边形 6"/>
          <p:cNvSpPr/>
          <p:nvPr/>
        </p:nvSpPr>
        <p:spPr>
          <a:xfrm>
            <a:off x="8444230" y="689610"/>
            <a:ext cx="1620520" cy="129667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4714875" y="1153795"/>
            <a:ext cx="1309370" cy="368300"/>
          </a:xfrm>
          <a:prstGeom prst="rect">
            <a:avLst/>
          </a:prstGeom>
          <a:noFill/>
        </p:spPr>
        <p:txBody>
          <a:bodyPr wrap="square" rtlCol="0">
            <a:spAutoFit/>
          </a:bodyPr>
          <a:p>
            <a:r>
              <a:rPr lang="en-US" altLang="zh-CN"/>
              <a:t>Container1</a:t>
            </a:r>
            <a:endParaRPr lang="en-US" altLang="zh-CN"/>
          </a:p>
        </p:txBody>
      </p:sp>
      <p:sp>
        <p:nvSpPr>
          <p:cNvPr id="12" name="文本框 11"/>
          <p:cNvSpPr txBox="1"/>
          <p:nvPr/>
        </p:nvSpPr>
        <p:spPr>
          <a:xfrm>
            <a:off x="6671310" y="1153795"/>
            <a:ext cx="1309370" cy="368300"/>
          </a:xfrm>
          <a:prstGeom prst="rect">
            <a:avLst/>
          </a:prstGeom>
          <a:noFill/>
        </p:spPr>
        <p:txBody>
          <a:bodyPr wrap="square" rtlCol="0">
            <a:spAutoFit/>
          </a:bodyPr>
          <a:p>
            <a:r>
              <a:rPr lang="en-US" altLang="zh-CN"/>
              <a:t>Container2</a:t>
            </a:r>
            <a:endParaRPr lang="en-US" altLang="zh-CN"/>
          </a:p>
        </p:txBody>
      </p:sp>
      <p:sp>
        <p:nvSpPr>
          <p:cNvPr id="13" name="文本框 12"/>
          <p:cNvSpPr txBox="1"/>
          <p:nvPr/>
        </p:nvSpPr>
        <p:spPr>
          <a:xfrm>
            <a:off x="8599805" y="1153795"/>
            <a:ext cx="1305560" cy="368300"/>
          </a:xfrm>
          <a:prstGeom prst="rect">
            <a:avLst/>
          </a:prstGeom>
          <a:noFill/>
        </p:spPr>
        <p:txBody>
          <a:bodyPr wrap="square" rtlCol="0">
            <a:spAutoFit/>
          </a:bodyPr>
          <a:p>
            <a:r>
              <a:rPr lang="en-US" altLang="zh-CN"/>
              <a:t>Container3</a:t>
            </a:r>
            <a:endParaRPr lang="en-US" altLang="zh-CN"/>
          </a:p>
        </p:txBody>
      </p:sp>
      <p:cxnSp>
        <p:nvCxnSpPr>
          <p:cNvPr id="14" name="直接连接符 13"/>
          <p:cNvCxnSpPr/>
          <p:nvPr/>
        </p:nvCxnSpPr>
        <p:spPr>
          <a:xfrm>
            <a:off x="5382895" y="1972945"/>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325995" y="1986280"/>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9269095" y="1972945"/>
            <a:ext cx="0" cy="55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382895" y="2530475"/>
            <a:ext cx="39020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a:off x="7325995" y="2545080"/>
            <a:ext cx="0" cy="292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圆角矩形 7"/>
          <p:cNvSpPr/>
          <p:nvPr/>
        </p:nvSpPr>
        <p:spPr>
          <a:xfrm>
            <a:off x="6388100" y="2849245"/>
            <a:ext cx="1972945" cy="43878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6671310" y="2898140"/>
            <a:ext cx="1668780" cy="337185"/>
          </a:xfrm>
          <a:prstGeom prst="rect">
            <a:avLst/>
          </a:prstGeom>
          <a:noFill/>
        </p:spPr>
        <p:txBody>
          <a:bodyPr wrap="square" rtlCol="0">
            <a:spAutoFit/>
          </a:bodyPr>
          <a:p>
            <a:r>
              <a:rPr lang="en-US" altLang="zh-CN" sz="1600"/>
              <a:t>syscall:open</a:t>
            </a:r>
            <a:endParaRPr lang="en-US" altLang="zh-CN" sz="1600"/>
          </a:p>
        </p:txBody>
      </p:sp>
      <p:cxnSp>
        <p:nvCxnSpPr>
          <p:cNvPr id="11" name="直接箭头连接符 10"/>
          <p:cNvCxnSpPr/>
          <p:nvPr/>
        </p:nvCxnSpPr>
        <p:spPr>
          <a:xfrm>
            <a:off x="7374255" y="3288030"/>
            <a:ext cx="0" cy="6457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圆角矩形 16"/>
          <p:cNvSpPr/>
          <p:nvPr/>
        </p:nvSpPr>
        <p:spPr>
          <a:xfrm>
            <a:off x="1405890" y="3593465"/>
            <a:ext cx="9890760" cy="2971165"/>
          </a:xfrm>
          <a:prstGeom prst="roundRect">
            <a:avLst/>
          </a:prstGeom>
          <a:noFill/>
          <a:ln w="28575"/>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9" name="直接箭头连接符 18"/>
          <p:cNvCxnSpPr/>
          <p:nvPr/>
        </p:nvCxnSpPr>
        <p:spPr>
          <a:xfrm flipH="1">
            <a:off x="2520315" y="1448435"/>
            <a:ext cx="724535" cy="9525"/>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232785" y="1448435"/>
            <a:ext cx="0" cy="270446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圆角矩形 20"/>
          <p:cNvSpPr/>
          <p:nvPr/>
        </p:nvSpPr>
        <p:spPr>
          <a:xfrm>
            <a:off x="1533525" y="4152900"/>
            <a:ext cx="3726815" cy="55816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文本框 21"/>
          <p:cNvSpPr txBox="1"/>
          <p:nvPr/>
        </p:nvSpPr>
        <p:spPr>
          <a:xfrm>
            <a:off x="1679575" y="4244975"/>
            <a:ext cx="3448050" cy="306705"/>
          </a:xfrm>
          <a:prstGeom prst="rect">
            <a:avLst/>
          </a:prstGeom>
          <a:noFill/>
        </p:spPr>
        <p:txBody>
          <a:bodyPr wrap="square" rtlCol="0">
            <a:spAutoFit/>
          </a:bodyPr>
          <a:p>
            <a:r>
              <a:rPr lang="zh-CN" altLang="en-US" sz="1400"/>
              <a:t>从</a:t>
            </a:r>
            <a:r>
              <a:rPr lang="en-US" altLang="zh-CN" sz="1400"/>
              <a:t>file</a:t>
            </a:r>
            <a:r>
              <a:rPr lang="zh-CN" altLang="en-US" sz="1400"/>
              <a:t>结构体得到</a:t>
            </a:r>
            <a:r>
              <a:rPr lang="en-US" altLang="zh-CN" sz="1400"/>
              <a:t>filesystem</a:t>
            </a:r>
            <a:r>
              <a:rPr lang="zh-CN" altLang="en-US" sz="1400"/>
              <a:t>及完整</a:t>
            </a:r>
            <a:r>
              <a:rPr lang="zh-CN" altLang="en-US" sz="1400"/>
              <a:t>路径</a:t>
            </a:r>
            <a:endParaRPr lang="zh-CN" altLang="en-US" sz="1400"/>
          </a:p>
        </p:txBody>
      </p:sp>
      <p:cxnSp>
        <p:nvCxnSpPr>
          <p:cNvPr id="24" name="直接箭头连接符 23"/>
          <p:cNvCxnSpPr/>
          <p:nvPr/>
        </p:nvCxnSpPr>
        <p:spPr>
          <a:xfrm flipV="1">
            <a:off x="3232785" y="4725670"/>
            <a:ext cx="0" cy="414020"/>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5" name="圆角矩形 24"/>
          <p:cNvSpPr/>
          <p:nvPr/>
        </p:nvSpPr>
        <p:spPr>
          <a:xfrm>
            <a:off x="1978025" y="5154295"/>
            <a:ext cx="2509520" cy="48704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文本框 25"/>
          <p:cNvSpPr txBox="1"/>
          <p:nvPr/>
        </p:nvSpPr>
        <p:spPr>
          <a:xfrm>
            <a:off x="2331720" y="5244465"/>
            <a:ext cx="1972945" cy="306705"/>
          </a:xfrm>
          <a:prstGeom prst="rect">
            <a:avLst/>
          </a:prstGeom>
          <a:noFill/>
        </p:spPr>
        <p:txBody>
          <a:bodyPr wrap="square" rtlCol="0">
            <a:spAutoFit/>
          </a:bodyPr>
          <a:p>
            <a:r>
              <a:rPr lang="zh-CN" altLang="en-US" sz="1400"/>
              <a:t>获得返回值</a:t>
            </a:r>
            <a:r>
              <a:rPr lang="en-US" altLang="zh-CN" sz="1400"/>
              <a:t>struct file</a:t>
            </a:r>
            <a:endParaRPr lang="en-US" altLang="zh-CN" sz="1400"/>
          </a:p>
        </p:txBody>
      </p:sp>
      <p:sp>
        <p:nvSpPr>
          <p:cNvPr id="27" name="圆角矩形 26"/>
          <p:cNvSpPr/>
          <p:nvPr/>
        </p:nvSpPr>
        <p:spPr>
          <a:xfrm>
            <a:off x="1809115" y="5955665"/>
            <a:ext cx="2863215" cy="46291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8" name="直接箭头连接符 27"/>
          <p:cNvCxnSpPr>
            <a:stCxn id="27" idx="0"/>
            <a:endCxn id="25" idx="2"/>
          </p:cNvCxnSpPr>
          <p:nvPr/>
        </p:nvCxnSpPr>
        <p:spPr>
          <a:xfrm flipH="1" flipV="1">
            <a:off x="3232785" y="5641340"/>
            <a:ext cx="8255" cy="31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2296795" y="6045835"/>
            <a:ext cx="2087880" cy="306705"/>
          </a:xfrm>
          <a:prstGeom prst="rect">
            <a:avLst/>
          </a:prstGeom>
          <a:noFill/>
        </p:spPr>
        <p:txBody>
          <a:bodyPr wrap="square" rtlCol="0">
            <a:spAutoFit/>
          </a:bodyPr>
          <a:p>
            <a:r>
              <a:rPr lang="en-US" altLang="zh-CN" sz="1400"/>
              <a:t>kprobe:do_file_open</a:t>
            </a:r>
            <a:endParaRPr lang="en-US" altLang="zh-CN" sz="1400"/>
          </a:p>
        </p:txBody>
      </p:sp>
      <p:sp>
        <p:nvSpPr>
          <p:cNvPr id="31" name="圆角矩形 30"/>
          <p:cNvSpPr/>
          <p:nvPr/>
        </p:nvSpPr>
        <p:spPr>
          <a:xfrm>
            <a:off x="6108065" y="3945890"/>
            <a:ext cx="2533650" cy="64579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圆角矩形 31"/>
          <p:cNvSpPr/>
          <p:nvPr/>
        </p:nvSpPr>
        <p:spPr>
          <a:xfrm>
            <a:off x="6108065" y="5638800"/>
            <a:ext cx="2533650" cy="64579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 name="圆角矩形 32"/>
          <p:cNvSpPr/>
          <p:nvPr/>
        </p:nvSpPr>
        <p:spPr>
          <a:xfrm>
            <a:off x="6108065" y="4792345"/>
            <a:ext cx="2533650" cy="64579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6" name="直接箭头连接符 35"/>
          <p:cNvCxnSpPr>
            <a:stCxn id="31" idx="2"/>
            <a:endCxn id="33" idx="0"/>
          </p:cNvCxnSpPr>
          <p:nvPr/>
        </p:nvCxnSpPr>
        <p:spPr>
          <a:xfrm>
            <a:off x="7374890" y="4591685"/>
            <a:ext cx="0" cy="2006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33" idx="2"/>
            <a:endCxn id="32" idx="0"/>
          </p:cNvCxnSpPr>
          <p:nvPr/>
        </p:nvCxnSpPr>
        <p:spPr>
          <a:xfrm>
            <a:off x="7374890" y="5438140"/>
            <a:ext cx="0" cy="2006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6563995" y="4116070"/>
            <a:ext cx="1620520" cy="337185"/>
          </a:xfrm>
          <a:prstGeom prst="rect">
            <a:avLst/>
          </a:prstGeom>
          <a:noFill/>
        </p:spPr>
        <p:txBody>
          <a:bodyPr wrap="square" rtlCol="0">
            <a:spAutoFit/>
          </a:bodyPr>
          <a:p>
            <a:r>
              <a:rPr lang="en-US" altLang="zh-CN" sz="1600"/>
              <a:t>do_sys_open</a:t>
            </a:r>
            <a:endParaRPr lang="en-US" altLang="zh-CN" sz="1600"/>
          </a:p>
        </p:txBody>
      </p:sp>
      <p:sp>
        <p:nvSpPr>
          <p:cNvPr id="39" name="文本框 38"/>
          <p:cNvSpPr txBox="1"/>
          <p:nvPr/>
        </p:nvSpPr>
        <p:spPr>
          <a:xfrm>
            <a:off x="6563995" y="4907915"/>
            <a:ext cx="1738630" cy="337185"/>
          </a:xfrm>
          <a:prstGeom prst="rect">
            <a:avLst/>
          </a:prstGeom>
          <a:noFill/>
        </p:spPr>
        <p:txBody>
          <a:bodyPr wrap="square" rtlCol="0">
            <a:spAutoFit/>
          </a:bodyPr>
          <a:p>
            <a:r>
              <a:rPr lang="en-US" altLang="zh-CN" sz="1600"/>
              <a:t>do_sys_openat2</a:t>
            </a:r>
            <a:endParaRPr lang="en-US" altLang="zh-CN" sz="1600"/>
          </a:p>
        </p:txBody>
      </p:sp>
      <p:sp>
        <p:nvSpPr>
          <p:cNvPr id="40" name="文本框 39"/>
          <p:cNvSpPr txBox="1"/>
          <p:nvPr/>
        </p:nvSpPr>
        <p:spPr>
          <a:xfrm>
            <a:off x="6643370" y="5797550"/>
            <a:ext cx="1461770" cy="337185"/>
          </a:xfrm>
          <a:prstGeom prst="rect">
            <a:avLst/>
          </a:prstGeom>
          <a:noFill/>
        </p:spPr>
        <p:txBody>
          <a:bodyPr wrap="square" rtlCol="0">
            <a:spAutoFit/>
          </a:bodyPr>
          <a:p>
            <a:r>
              <a:rPr lang="en-US" altLang="zh-CN" sz="1600"/>
              <a:t>do_file_open</a:t>
            </a:r>
            <a:endParaRPr lang="en-US" altLang="zh-CN" sz="1600"/>
          </a:p>
        </p:txBody>
      </p:sp>
      <p:sp>
        <p:nvSpPr>
          <p:cNvPr id="42" name="文本框 41"/>
          <p:cNvSpPr txBox="1"/>
          <p:nvPr/>
        </p:nvSpPr>
        <p:spPr>
          <a:xfrm>
            <a:off x="1533525" y="3663950"/>
            <a:ext cx="1132205" cy="460375"/>
          </a:xfrm>
          <a:prstGeom prst="rect">
            <a:avLst/>
          </a:prstGeom>
          <a:noFill/>
        </p:spPr>
        <p:txBody>
          <a:bodyPr wrap="none" rtlCol="0">
            <a:spAutoFit/>
          </a:bodyPr>
          <a:p>
            <a:pPr algn="l"/>
            <a:r>
              <a:rPr lang="en-US" altLang="zh-CN" sz="2400" b="1">
                <a:latin typeface="+mj-lt"/>
                <a:cs typeface="+mj-lt"/>
                <a:sym typeface="+mn-ea"/>
              </a:rPr>
              <a:t>Kernel</a:t>
            </a:r>
            <a:endParaRPr lang="zh-CN" altLang="en-US" sz="2400"/>
          </a:p>
        </p:txBody>
      </p:sp>
      <p:cxnSp>
        <p:nvCxnSpPr>
          <p:cNvPr id="43" name="直接箭头连接符 42"/>
          <p:cNvCxnSpPr>
            <a:endCxn id="27" idx="3"/>
          </p:cNvCxnSpPr>
          <p:nvPr/>
        </p:nvCxnSpPr>
        <p:spPr>
          <a:xfrm flipH="1" flipV="1">
            <a:off x="4672330" y="6187440"/>
            <a:ext cx="789940" cy="12065"/>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32" idx="1"/>
          </p:cNvCxnSpPr>
          <p:nvPr/>
        </p:nvCxnSpPr>
        <p:spPr>
          <a:xfrm flipH="1">
            <a:off x="5425440" y="5962015"/>
            <a:ext cx="68262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450205" y="5979795"/>
            <a:ext cx="0" cy="21971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pic>
        <p:nvPicPr>
          <p:cNvPr id="46" name="图片 45" descr="eBPF"/>
          <p:cNvPicPr>
            <a:picLocks noChangeAspect="1"/>
          </p:cNvPicPr>
          <p:nvPr/>
        </p:nvPicPr>
        <p:blipFill>
          <a:blip r:embed="rId1"/>
          <a:stretch>
            <a:fillRect/>
          </a:stretch>
        </p:blipFill>
        <p:spPr>
          <a:xfrm>
            <a:off x="5033645" y="5279390"/>
            <a:ext cx="671830" cy="671830"/>
          </a:xfrm>
          <a:prstGeom prst="rect">
            <a:avLst/>
          </a:prstGeom>
        </p:spPr>
      </p:pic>
      <p:sp>
        <p:nvSpPr>
          <p:cNvPr id="2" name="文本框 1"/>
          <p:cNvSpPr txBox="1"/>
          <p:nvPr/>
        </p:nvSpPr>
        <p:spPr>
          <a:xfrm>
            <a:off x="419100" y="267335"/>
            <a:ext cx="1558925" cy="398780"/>
          </a:xfrm>
          <a:prstGeom prst="rect">
            <a:avLst/>
          </a:prstGeom>
          <a:noFill/>
        </p:spPr>
        <p:txBody>
          <a:bodyPr wrap="square" rtlCol="0">
            <a:spAutoFit/>
          </a:bodyPr>
          <a:p>
            <a:r>
              <a:rPr lang="zh-CN" altLang="en-US" sz="2000" b="1">
                <a:latin typeface="+mj-lt"/>
                <a:ea typeface="+mj-lt"/>
              </a:rPr>
              <a:t>文件打开</a:t>
            </a:r>
            <a:endParaRPr lang="zh-CN" altLang="en-US" sz="2000" b="1">
              <a:latin typeface="+mj-lt"/>
              <a:ea typeface="+mj-lt"/>
            </a:endParaRPr>
          </a:p>
        </p:txBody>
      </p:sp>
      <p:sp>
        <p:nvSpPr>
          <p:cNvPr id="3" name="文本框 2"/>
          <p:cNvSpPr txBox="1"/>
          <p:nvPr/>
        </p:nvSpPr>
        <p:spPr>
          <a:xfrm>
            <a:off x="8884920" y="3994785"/>
            <a:ext cx="2107565" cy="645160"/>
          </a:xfrm>
          <a:prstGeom prst="rect">
            <a:avLst/>
          </a:prstGeom>
          <a:noFill/>
        </p:spPr>
        <p:txBody>
          <a:bodyPr wrap="square" rtlCol="0">
            <a:spAutoFit/>
          </a:bodyPr>
          <a:p>
            <a:r>
              <a:rPr lang="zh-CN" altLang="en-US" sz="1200"/>
              <a:t>do_sys_open 将旧的 open 和 openat 系统调用参数转换为新的 openat2 参数格式</a:t>
            </a:r>
            <a:endParaRPr lang="zh-CN" altLang="en-US" sz="1200"/>
          </a:p>
        </p:txBody>
      </p:sp>
      <p:sp>
        <p:nvSpPr>
          <p:cNvPr id="23" name="文本框 22"/>
          <p:cNvSpPr txBox="1"/>
          <p:nvPr/>
        </p:nvSpPr>
        <p:spPr>
          <a:xfrm>
            <a:off x="8884920" y="4977765"/>
            <a:ext cx="1741805" cy="275590"/>
          </a:xfrm>
          <a:prstGeom prst="rect">
            <a:avLst/>
          </a:prstGeom>
          <a:noFill/>
        </p:spPr>
        <p:txBody>
          <a:bodyPr wrap="square" rtlCol="0">
            <a:spAutoFit/>
          </a:bodyPr>
          <a:p>
            <a:r>
              <a:rPr lang="zh-CN" altLang="en-US" sz="1200"/>
              <a:t>处理文件的打开操作</a:t>
            </a:r>
            <a:endParaRPr lang="zh-CN" alt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74" name="图片 5" descr="未标题-1"/>
          <p:cNvPicPr>
            <a:picLocks noChangeAspect="1"/>
          </p:cNvPicPr>
          <p:nvPr/>
        </p:nvPicPr>
        <p:blipFill>
          <a:blip r:embed="rId1"/>
          <a:stretch>
            <a:fillRect/>
          </a:stretch>
        </p:blipFill>
        <p:spPr>
          <a:xfrm>
            <a:off x="9830435" y="261620"/>
            <a:ext cx="2005965" cy="536575"/>
          </a:xfrm>
          <a:prstGeom prst="rect">
            <a:avLst/>
          </a:prstGeom>
        </p:spPr>
      </p:pic>
      <p:pic>
        <p:nvPicPr>
          <p:cNvPr id="2" name="图片 1" descr="Visit"/>
          <p:cNvPicPr>
            <a:picLocks noChangeAspect="1"/>
          </p:cNvPicPr>
          <p:nvPr/>
        </p:nvPicPr>
        <p:blipFill>
          <a:blip r:embed="rId2"/>
          <a:srcRect r="-1458" b="46019"/>
          <a:stretch>
            <a:fillRect/>
          </a:stretch>
        </p:blipFill>
        <p:spPr>
          <a:xfrm>
            <a:off x="0" y="999490"/>
            <a:ext cx="6232525" cy="5858510"/>
          </a:xfrm>
          <a:prstGeom prst="rect">
            <a:avLst/>
          </a:prstGeom>
        </p:spPr>
      </p:pic>
      <p:pic>
        <p:nvPicPr>
          <p:cNvPr id="3" name="图片 2" descr="Visit"/>
          <p:cNvPicPr>
            <a:picLocks noChangeAspect="1"/>
          </p:cNvPicPr>
          <p:nvPr/>
        </p:nvPicPr>
        <p:blipFill>
          <a:blip r:embed="rId2"/>
          <a:srcRect l="31" t="53806"/>
          <a:stretch>
            <a:fillRect/>
          </a:stretch>
        </p:blipFill>
        <p:spPr>
          <a:xfrm>
            <a:off x="6232525" y="1972945"/>
            <a:ext cx="5824855" cy="48850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9720" y="1564005"/>
            <a:ext cx="4409440" cy="3729990"/>
          </a:xfrm>
        </p:spPr>
        <p:txBody>
          <a:bodyPr>
            <a:normAutofit/>
          </a:bodyPr>
          <a:p>
            <a:pPr marL="0" indent="0">
              <a:buNone/>
            </a:pPr>
            <a:r>
              <a:rPr lang="zh-CN" altLang="en-US" sz="1800"/>
              <a:t>容器间互访的方式有进程间通信、网络互访等，考虑到容器网络安全层面，目前针对容器网络的方式进行容器间访问检测。</a:t>
            </a:r>
            <a:endParaRPr lang="zh-CN" altLang="en-US" sz="1800"/>
          </a:p>
          <a:p>
            <a:pPr marL="0" indent="0">
              <a:buNone/>
            </a:pPr>
            <a:r>
              <a:rPr lang="zh-CN" altLang="en-US" sz="1800"/>
              <a:t>在Linux上容器网络的隔离手段是net_namespace,其可以为不同的命名空间从逻辑上提供独立的网络协议栈，使得不同的网络空间都像运行在独立的网络中一样。Netnamespace的网络隔离，使得各容器在逻辑上独占网络协议栈，但实际上还是共享Linux内核网络协议栈进行网络数据的处理，利用各容器都是从同一个宿主机上的网络协议栈处理数据</a:t>
            </a:r>
            <a:endParaRPr lang="zh-CN" altLang="en-US" sz="1800"/>
          </a:p>
        </p:txBody>
      </p:sp>
      <p:pic>
        <p:nvPicPr>
          <p:cNvPr id="2097373" name="图片 11" descr="C:\Users\Administrator\Desktop\ppt.pngppt"/>
          <p:cNvPicPr>
            <a:picLocks noChangeAspect="1"/>
          </p:cNvPicPr>
          <p:nvPr/>
        </p:nvPicPr>
        <p:blipFill>
          <a:blip r:embed="rId1"/>
          <a:srcRect/>
          <a:stretch>
            <a:fillRect/>
          </a:stretch>
        </p:blipFill>
        <p:spPr>
          <a:xfrm>
            <a:off x="0" y="953"/>
            <a:ext cx="12192000" cy="1057910"/>
          </a:xfrm>
          <a:prstGeom prst="rect">
            <a:avLst/>
          </a:prstGeom>
        </p:spPr>
      </p:pic>
      <p:pic>
        <p:nvPicPr>
          <p:cNvPr id="2097374" name="图片 5" descr="未标题-1"/>
          <p:cNvPicPr>
            <a:picLocks noChangeAspect="1"/>
          </p:cNvPicPr>
          <p:nvPr/>
        </p:nvPicPr>
        <p:blipFill>
          <a:blip r:embed="rId2"/>
          <a:stretch>
            <a:fillRect/>
          </a:stretch>
        </p:blipFill>
        <p:spPr>
          <a:xfrm>
            <a:off x="9830435" y="261620"/>
            <a:ext cx="2005965" cy="536575"/>
          </a:xfrm>
          <a:prstGeom prst="rect">
            <a:avLst/>
          </a:prstGeom>
        </p:spPr>
      </p:pic>
      <p:pic>
        <p:nvPicPr>
          <p:cNvPr id="4" name="图片 3" descr="docker_network"/>
          <p:cNvPicPr>
            <a:picLocks noChangeAspect="1"/>
          </p:cNvPicPr>
          <p:nvPr/>
        </p:nvPicPr>
        <p:blipFill>
          <a:blip r:embed="rId3"/>
          <a:stretch>
            <a:fillRect/>
          </a:stretch>
        </p:blipFill>
        <p:spPr>
          <a:xfrm>
            <a:off x="4709160" y="1374140"/>
            <a:ext cx="7377430" cy="51079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73" name="图片 11" descr="C:\Users\Administrator\Desktop\ppt.pngppt"/>
          <p:cNvPicPr>
            <a:picLocks noChangeAspect="1"/>
          </p:cNvPicPr>
          <p:nvPr/>
        </p:nvPicPr>
        <p:blipFill>
          <a:blip r:embed="rId1"/>
          <a:srcRect/>
          <a:stretch>
            <a:fillRect/>
          </a:stretch>
        </p:blipFill>
        <p:spPr>
          <a:xfrm>
            <a:off x="0" y="953"/>
            <a:ext cx="12192000" cy="1057910"/>
          </a:xfrm>
          <a:prstGeom prst="rect">
            <a:avLst/>
          </a:prstGeom>
        </p:spPr>
      </p:pic>
      <p:pic>
        <p:nvPicPr>
          <p:cNvPr id="2097374" name="图片 5" descr="未标题-1"/>
          <p:cNvPicPr>
            <a:picLocks noChangeAspect="1"/>
          </p:cNvPicPr>
          <p:nvPr/>
        </p:nvPicPr>
        <p:blipFill>
          <a:blip r:embed="rId2"/>
          <a:stretch>
            <a:fillRect/>
          </a:stretch>
        </p:blipFill>
        <p:spPr>
          <a:xfrm>
            <a:off x="9830435" y="261620"/>
            <a:ext cx="2005965" cy="536575"/>
          </a:xfrm>
          <a:prstGeom prst="rect">
            <a:avLst/>
          </a:prstGeom>
        </p:spPr>
      </p:pic>
      <p:sp>
        <p:nvSpPr>
          <p:cNvPr id="5" name="圆角矩形 4"/>
          <p:cNvSpPr/>
          <p:nvPr/>
        </p:nvSpPr>
        <p:spPr>
          <a:xfrm>
            <a:off x="447675" y="1421130"/>
            <a:ext cx="2099945" cy="518160"/>
          </a:xfrm>
          <a:prstGeom prst="roundRect">
            <a:avLst/>
          </a:prstGeom>
          <a:solidFill>
            <a:schemeClr val="accent1">
              <a:lumMod val="40000"/>
              <a:lumOff val="6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605790" y="1511935"/>
            <a:ext cx="1783715" cy="337185"/>
          </a:xfrm>
          <a:prstGeom prst="rect">
            <a:avLst/>
          </a:prstGeom>
          <a:noFill/>
        </p:spPr>
        <p:txBody>
          <a:bodyPr wrap="square" rtlCol="0">
            <a:spAutoFit/>
          </a:bodyPr>
          <a:p>
            <a:r>
              <a:rPr lang="zh-CN" altLang="en-US" sz="1600">
                <a:cs typeface="+mn-lt"/>
              </a:rPr>
              <a:t>异常检测</a:t>
            </a:r>
            <a:r>
              <a:rPr lang="zh-CN" altLang="en-US" sz="1600">
                <a:cs typeface="+mn-lt"/>
              </a:rPr>
              <a:t>算法</a:t>
            </a:r>
            <a:endParaRPr lang="zh-CN" altLang="en-US" sz="1600">
              <a:cs typeface="+mn-lt"/>
            </a:endParaRPr>
          </a:p>
        </p:txBody>
      </p:sp>
      <p:sp>
        <p:nvSpPr>
          <p:cNvPr id="4" name="圆角矩形 3"/>
          <p:cNvSpPr/>
          <p:nvPr/>
        </p:nvSpPr>
        <p:spPr>
          <a:xfrm>
            <a:off x="605790" y="2433955"/>
            <a:ext cx="10916285" cy="3748405"/>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1019810" y="3293110"/>
            <a:ext cx="9916160" cy="2030095"/>
          </a:xfrm>
          <a:prstGeom prst="rect">
            <a:avLst/>
          </a:prstGeom>
          <a:noFill/>
        </p:spPr>
        <p:txBody>
          <a:bodyPr wrap="square" rtlCol="0">
            <a:spAutoFit/>
          </a:bodyPr>
          <a:p>
            <a:r>
              <a:rPr lang="zh-CN" altLang="en-US"/>
              <a:t>《</a:t>
            </a:r>
            <a:r>
              <a:rPr lang="zh-CN" altLang="en-US"/>
              <a:t>基于优化孤立森林的Docker容器异常监控系统》</a:t>
            </a:r>
            <a:endParaRPr lang="zh-CN" altLang="en-US"/>
          </a:p>
          <a:p>
            <a:endParaRPr lang="zh-CN" altLang="en-US"/>
          </a:p>
          <a:p>
            <a:r>
              <a:rPr lang="zh-CN" altLang="en-US"/>
              <a:t>提出了一种基于优化隔离森林算法的在线容器异常检测系统，通过监控和分析容器的多维资源指标来提高检测准确率。为提高检测准确率，系统为每个资源指标赋予权重，并将隔离森林算法中的随机特征选择改为根据容器的资源偏差进行加权特征选择。</a:t>
            </a:r>
            <a:endParaRPr lang="zh-CN" altLang="en-US"/>
          </a:p>
          <a:p>
            <a:endParaRPr lang="zh-CN" altLang="en-US"/>
          </a:p>
          <a:p>
            <a:r>
              <a:rPr lang="zh-CN" altLang="en-US"/>
              <a:t>此外，该系统可以识别异常的资源指标并自动调整监控周期，以减少监控延迟和系统开销</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73" name="图片 11" descr="C:\Users\Administrator\Desktop\ppt.pngppt"/>
          <p:cNvPicPr>
            <a:picLocks noChangeAspect="1"/>
          </p:cNvPicPr>
          <p:nvPr/>
        </p:nvPicPr>
        <p:blipFill>
          <a:blip r:embed="rId1"/>
          <a:srcRect/>
          <a:stretch>
            <a:fillRect/>
          </a:stretch>
        </p:blipFill>
        <p:spPr>
          <a:xfrm>
            <a:off x="0" y="953"/>
            <a:ext cx="12192000" cy="1057910"/>
          </a:xfrm>
          <a:prstGeom prst="rect">
            <a:avLst/>
          </a:prstGeom>
        </p:spPr>
      </p:pic>
      <p:pic>
        <p:nvPicPr>
          <p:cNvPr id="2097374" name="图片 5" descr="未标题-1"/>
          <p:cNvPicPr>
            <a:picLocks noChangeAspect="1"/>
          </p:cNvPicPr>
          <p:nvPr/>
        </p:nvPicPr>
        <p:blipFill>
          <a:blip r:embed="rId2"/>
          <a:stretch>
            <a:fillRect/>
          </a:stretch>
        </p:blipFill>
        <p:spPr>
          <a:xfrm>
            <a:off x="9830435" y="261620"/>
            <a:ext cx="2005965" cy="536575"/>
          </a:xfrm>
          <a:prstGeom prst="rect">
            <a:avLst/>
          </a:prstGeom>
        </p:spPr>
      </p:pic>
      <p:pic>
        <p:nvPicPr>
          <p:cNvPr id="4" name="图片 3" descr="sys_arch"/>
          <p:cNvPicPr>
            <a:picLocks noChangeAspect="1"/>
          </p:cNvPicPr>
          <p:nvPr/>
        </p:nvPicPr>
        <p:blipFill>
          <a:blip r:embed="rId3"/>
          <a:stretch>
            <a:fillRect/>
          </a:stretch>
        </p:blipFill>
        <p:spPr>
          <a:xfrm>
            <a:off x="543560" y="1930400"/>
            <a:ext cx="5575300" cy="3873500"/>
          </a:xfrm>
          <a:prstGeom prst="rect">
            <a:avLst/>
          </a:prstGeom>
        </p:spPr>
      </p:pic>
      <p:sp>
        <p:nvSpPr>
          <p:cNvPr id="5" name="圆角矩形 4"/>
          <p:cNvSpPr/>
          <p:nvPr/>
        </p:nvSpPr>
        <p:spPr>
          <a:xfrm>
            <a:off x="6622415" y="1698625"/>
            <a:ext cx="4996180" cy="4532630"/>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7031355" y="1949450"/>
            <a:ext cx="4178300" cy="4030980"/>
          </a:xfrm>
          <a:prstGeom prst="rect">
            <a:avLst/>
          </a:prstGeom>
          <a:noFill/>
        </p:spPr>
        <p:txBody>
          <a:bodyPr wrap="square" rtlCol="0">
            <a:spAutoFit/>
          </a:bodyPr>
          <a:p>
            <a:r>
              <a:rPr lang="zh-CN" altLang="en-US" sz="1600"/>
              <a:t>监控系统架构主要由监控代理、监控数据存储、异常检测、异常分析四个组件组成。</a:t>
            </a:r>
            <a:endParaRPr lang="zh-CN" altLang="en-US" sz="1600"/>
          </a:p>
          <a:p>
            <a:endParaRPr lang="zh-CN" altLang="en-US" sz="1600"/>
          </a:p>
          <a:p>
            <a:r>
              <a:rPr lang="zh-CN" altLang="en-US" sz="1600"/>
              <a:t>每台宿主机上仅有一个监控代理，采用非侵入的方式获取容器的资源使用率。</a:t>
            </a:r>
            <a:endParaRPr lang="zh-CN" altLang="en-US" sz="1600"/>
          </a:p>
          <a:p>
            <a:r>
              <a:rPr lang="zh-CN" altLang="en-US" sz="1600"/>
              <a:t>监控数据存储模块接收来自各台宿主机的监控数据，仅存储最近一段时间的监控数据，并将数据组织成指定的格式发送给异常检测模块。</a:t>
            </a:r>
            <a:endParaRPr lang="zh-CN" altLang="en-US" sz="1600"/>
          </a:p>
          <a:p>
            <a:r>
              <a:rPr lang="zh-CN" altLang="en-US" sz="1600"/>
              <a:t>异常检测模块通过基于iForest的异常评估方法对从监控数据存储模块接收到的数据进行检测，并将异常容器信息发送给异常分析模块。</a:t>
            </a:r>
            <a:endParaRPr lang="zh-CN" altLang="en-US" sz="1600"/>
          </a:p>
          <a:p>
            <a:r>
              <a:rPr lang="zh-CN" altLang="en-US" sz="1600"/>
              <a:t>异常分析模块首先从各台宿主机获取异常容器的日志，然后对日志进行分析，定位异常原因</a:t>
            </a:r>
            <a:endParaRPr lang="zh-CN"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73" name="图片 11" descr="C:\Users\Administrator\Desktop\ppt.pngppt"/>
          <p:cNvPicPr>
            <a:picLocks noChangeAspect="1"/>
          </p:cNvPicPr>
          <p:nvPr/>
        </p:nvPicPr>
        <p:blipFill>
          <a:blip r:embed="rId1"/>
          <a:srcRect/>
          <a:stretch>
            <a:fillRect/>
          </a:stretch>
        </p:blipFill>
        <p:spPr>
          <a:xfrm>
            <a:off x="0" y="953"/>
            <a:ext cx="12192000" cy="1057910"/>
          </a:xfrm>
          <a:prstGeom prst="rect">
            <a:avLst/>
          </a:prstGeom>
        </p:spPr>
      </p:pic>
      <p:pic>
        <p:nvPicPr>
          <p:cNvPr id="2097374" name="图片 5" descr="未标题-1"/>
          <p:cNvPicPr>
            <a:picLocks noChangeAspect="1"/>
          </p:cNvPicPr>
          <p:nvPr/>
        </p:nvPicPr>
        <p:blipFill>
          <a:blip r:embed="rId2"/>
          <a:stretch>
            <a:fillRect/>
          </a:stretch>
        </p:blipFill>
        <p:spPr>
          <a:xfrm>
            <a:off x="9830435" y="261620"/>
            <a:ext cx="2005965" cy="536575"/>
          </a:xfrm>
          <a:prstGeom prst="rect">
            <a:avLst/>
          </a:prstGeom>
        </p:spPr>
      </p:pic>
      <p:pic>
        <p:nvPicPr>
          <p:cNvPr id="3" name="图片 2" descr="process"/>
          <p:cNvPicPr>
            <a:picLocks noChangeAspect="1"/>
          </p:cNvPicPr>
          <p:nvPr/>
        </p:nvPicPr>
        <p:blipFill>
          <a:blip r:embed="rId3"/>
          <a:stretch>
            <a:fillRect/>
          </a:stretch>
        </p:blipFill>
        <p:spPr>
          <a:xfrm>
            <a:off x="6517640" y="1225550"/>
            <a:ext cx="5575300" cy="5283200"/>
          </a:xfrm>
          <a:prstGeom prst="rect">
            <a:avLst/>
          </a:prstGeom>
        </p:spPr>
      </p:pic>
      <p:sp>
        <p:nvSpPr>
          <p:cNvPr id="5" name="圆角矩形 4"/>
          <p:cNvSpPr/>
          <p:nvPr/>
        </p:nvSpPr>
        <p:spPr>
          <a:xfrm>
            <a:off x="593090" y="1442720"/>
            <a:ext cx="5812155" cy="5066665"/>
          </a:xfrm>
          <a:prstGeom prst="round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文本框 3"/>
          <p:cNvSpPr txBox="1"/>
          <p:nvPr/>
        </p:nvSpPr>
        <p:spPr>
          <a:xfrm>
            <a:off x="985520" y="2033270"/>
            <a:ext cx="5030470" cy="4030980"/>
          </a:xfrm>
          <a:prstGeom prst="rect">
            <a:avLst/>
          </a:prstGeom>
          <a:noFill/>
        </p:spPr>
        <p:txBody>
          <a:bodyPr wrap="square" rtlCol="0">
            <a:spAutoFit/>
          </a:bodyPr>
          <a:p>
            <a:r>
              <a:rPr lang="zh-CN" altLang="en-US" sz="1600">
                <a:sym typeface="+mn-ea"/>
              </a:rPr>
              <a:t>异常检测算法的</a:t>
            </a:r>
            <a:r>
              <a:rPr lang="zh-CN" altLang="en-US" sz="1600">
                <a:sym typeface="+mn-ea"/>
              </a:rPr>
              <a:t>过程：</a:t>
            </a:r>
            <a:endParaRPr lang="zh-CN" altLang="en-US" sz="1600"/>
          </a:p>
          <a:p>
            <a:endParaRPr lang="zh-CN" altLang="en-US" sz="1600">
              <a:sym typeface="+mn-ea"/>
            </a:endParaRPr>
          </a:p>
          <a:p>
            <a:r>
              <a:rPr lang="zh-CN" altLang="en-US" sz="1600">
                <a:sym typeface="+mn-ea"/>
              </a:rPr>
              <a:t>数据收集与</a:t>
            </a:r>
            <a:r>
              <a:rPr lang="zh-CN" altLang="en-US" sz="1600">
                <a:sym typeface="+mn-ea"/>
              </a:rPr>
              <a:t>监控：从Docker容器中收集CPU、内存、磁盘I/O等资源使用数据。监控到的数据集用于后续的模型构建和异常检测</a:t>
            </a:r>
            <a:endParaRPr lang="zh-CN" altLang="en-US" sz="1600">
              <a:sym typeface="+mn-ea"/>
            </a:endParaRPr>
          </a:p>
          <a:p>
            <a:endParaRPr lang="zh-CN" altLang="en-US" sz="1600">
              <a:sym typeface="+mn-ea"/>
            </a:endParaRPr>
          </a:p>
          <a:p>
            <a:r>
              <a:rPr lang="zh-CN" altLang="en-US" sz="1600">
                <a:sym typeface="+mn-ea"/>
              </a:rPr>
              <a:t>构建多个iTree并组成</a:t>
            </a:r>
            <a:r>
              <a:rPr lang="zh-CN" altLang="en-US" sz="1600">
                <a:sym typeface="+mn-ea"/>
              </a:rPr>
              <a:t>隔离森林</a:t>
            </a:r>
            <a:endParaRPr lang="zh-CN" altLang="en-US" sz="1600">
              <a:sym typeface="+mn-ea"/>
            </a:endParaRPr>
          </a:p>
          <a:p>
            <a:endParaRPr lang="zh-CN" altLang="en-US" sz="1600">
              <a:sym typeface="+mn-ea"/>
            </a:endParaRPr>
          </a:p>
          <a:p>
            <a:r>
              <a:rPr lang="zh-CN" altLang="en-US" sz="1600">
                <a:sym typeface="+mn-ea"/>
              </a:rPr>
              <a:t>孤立森林模型训练：</a:t>
            </a:r>
            <a:r>
              <a:rPr lang="zh-CN" altLang="en-US" sz="1600">
                <a:sym typeface="+mn-ea"/>
              </a:rPr>
              <a:t>对收集到的数据进行特征提取，为每个特征分配权重，</a:t>
            </a:r>
            <a:r>
              <a:rPr lang="zh-CN" altLang="en-US" sz="1600">
                <a:sym typeface="+mn-ea"/>
              </a:rPr>
              <a:t>使用加权后的特征数据训练孤立森林模型。</a:t>
            </a:r>
            <a:endParaRPr lang="zh-CN" altLang="en-US" sz="1600"/>
          </a:p>
          <a:p>
            <a:endParaRPr lang="zh-CN" altLang="en-US" sz="1600">
              <a:sym typeface="+mn-ea"/>
            </a:endParaRPr>
          </a:p>
          <a:p>
            <a:r>
              <a:rPr lang="zh-CN" altLang="en-US" sz="1600">
                <a:sym typeface="+mn-ea"/>
              </a:rPr>
              <a:t>异常计算与检测：</a:t>
            </a:r>
            <a:r>
              <a:rPr lang="zh-CN" altLang="en-US" sz="1600">
                <a:sym typeface="+mn-ea"/>
              </a:rPr>
              <a:t>计算每个数据点在所有树中的平均高度，根据平均路径长度计算异常得分，如果异常值超过预设的阈值，则识别出该数据点对应的异常资源度量</a:t>
            </a:r>
            <a:endParaRPr lang="zh-CN" altLang="en-US" sz="160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56" name="图片 5" descr="未标题-1"/>
          <p:cNvPicPr>
            <a:picLocks noChangeAspect="1"/>
          </p:cNvPicPr>
          <p:nvPr/>
        </p:nvPicPr>
        <p:blipFill>
          <a:blip r:embed="rId1"/>
          <a:stretch>
            <a:fillRect/>
          </a:stretch>
        </p:blipFill>
        <p:spPr>
          <a:xfrm>
            <a:off x="9828530" y="261620"/>
            <a:ext cx="2005965" cy="536575"/>
          </a:xfrm>
          <a:prstGeom prst="rect">
            <a:avLst/>
          </a:prstGeom>
        </p:spPr>
      </p:pic>
      <p:pic>
        <p:nvPicPr>
          <p:cNvPr id="2097373" name="图片 11" descr="C:\Users\Administrator\Desktop\ppt.pngppt"/>
          <p:cNvPicPr>
            <a:picLocks noChangeAspect="1"/>
          </p:cNvPicPr>
          <p:nvPr/>
        </p:nvPicPr>
        <p:blipFill>
          <a:blip r:embed="rId2"/>
          <a:srcRect/>
          <a:stretch>
            <a:fillRect/>
          </a:stretch>
        </p:blipFill>
        <p:spPr>
          <a:xfrm>
            <a:off x="0" y="953"/>
            <a:ext cx="12192000" cy="1057910"/>
          </a:xfrm>
          <a:prstGeom prst="rect">
            <a:avLst/>
          </a:prstGeom>
        </p:spPr>
      </p:pic>
      <p:sp>
        <p:nvSpPr>
          <p:cNvPr id="11" name="圆角矩形 10"/>
          <p:cNvSpPr/>
          <p:nvPr/>
        </p:nvSpPr>
        <p:spPr>
          <a:xfrm>
            <a:off x="272415" y="163830"/>
            <a:ext cx="2743200" cy="732790"/>
          </a:xfrm>
          <a:prstGeom prst="roundRect">
            <a:avLst/>
          </a:prstGeom>
          <a:solidFill>
            <a:schemeClr val="accent1">
              <a:lumMod val="40000"/>
              <a:lumOff val="60000"/>
            </a:schemeClr>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nvSpPr>
        <p:spPr>
          <a:xfrm>
            <a:off x="367030" y="287655"/>
            <a:ext cx="2120900" cy="521970"/>
          </a:xfrm>
          <a:prstGeom prst="rect">
            <a:avLst/>
          </a:prstGeom>
          <a:noFill/>
        </p:spPr>
        <p:txBody>
          <a:bodyPr wrap="square" rtlCol="0">
            <a:spAutoFit/>
          </a:bodyPr>
          <a:p>
            <a:r>
              <a:rPr lang="en-US" altLang="zh-CN" sz="2800">
                <a:latin typeface="微软雅黑" charset="0"/>
                <a:ea typeface="微软雅黑" charset="0"/>
                <a:cs typeface="微软雅黑" charset="0"/>
              </a:rPr>
              <a:t>·</a:t>
            </a:r>
            <a:r>
              <a:rPr lang="zh-CN" altLang="en-US" sz="2800">
                <a:latin typeface="微软雅黑" charset="0"/>
                <a:ea typeface="微软雅黑" charset="0"/>
                <a:cs typeface="微软雅黑" charset="0"/>
              </a:rPr>
              <a:t>效果</a:t>
            </a:r>
            <a:r>
              <a:rPr lang="zh-CN" altLang="en-US" sz="2800">
                <a:latin typeface="微软雅黑" charset="0"/>
                <a:ea typeface="微软雅黑" charset="0"/>
                <a:cs typeface="微软雅黑" charset="0"/>
              </a:rPr>
              <a:t>展示</a:t>
            </a:r>
            <a:endParaRPr lang="zh-CN" altLang="en-US" sz="2800">
              <a:latin typeface="微软雅黑" charset="0"/>
              <a:ea typeface="微软雅黑" charset="0"/>
              <a:cs typeface="微软雅黑" charset="0"/>
            </a:endParaRPr>
          </a:p>
        </p:txBody>
      </p:sp>
      <p:pic>
        <p:nvPicPr>
          <p:cNvPr id="2" name="图片 1" descr="pro"/>
          <p:cNvPicPr>
            <a:picLocks noChangeAspect="1"/>
          </p:cNvPicPr>
          <p:nvPr/>
        </p:nvPicPr>
        <p:blipFill>
          <a:blip r:embed="rId3"/>
          <a:stretch>
            <a:fillRect/>
          </a:stretch>
        </p:blipFill>
        <p:spPr>
          <a:xfrm>
            <a:off x="0" y="1167765"/>
            <a:ext cx="12192000" cy="56902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CG_gra"/>
          <p:cNvPicPr>
            <a:picLocks noChangeAspect="1"/>
          </p:cNvPicPr>
          <p:nvPr/>
        </p:nvPicPr>
        <p:blipFill>
          <a:blip r:embed="rId1"/>
          <a:stretch>
            <a:fillRect/>
          </a:stretch>
        </p:blipFill>
        <p:spPr>
          <a:xfrm>
            <a:off x="0" y="519430"/>
            <a:ext cx="12192000" cy="58191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74" name="图片 5" descr="未标题-1"/>
          <p:cNvPicPr>
            <a:picLocks noChangeAspect="1"/>
          </p:cNvPicPr>
          <p:nvPr/>
        </p:nvPicPr>
        <p:blipFill>
          <a:blip r:embed="rId1"/>
          <a:stretch>
            <a:fillRect/>
          </a:stretch>
        </p:blipFill>
        <p:spPr>
          <a:xfrm>
            <a:off x="9830435" y="261620"/>
            <a:ext cx="2005965" cy="536575"/>
          </a:xfrm>
          <a:prstGeom prst="rect">
            <a:avLst/>
          </a:prstGeom>
        </p:spPr>
      </p:pic>
      <p:pic>
        <p:nvPicPr>
          <p:cNvPr id="2097346" name="图片 20" descr="C:\Users\Administrator\Desktop\ppt.pngppt"/>
          <p:cNvPicPr>
            <a:picLocks noChangeAspect="1"/>
          </p:cNvPicPr>
          <p:nvPr/>
        </p:nvPicPr>
        <p:blipFill>
          <a:blip r:embed="rId2"/>
          <a:srcRect/>
          <a:stretch>
            <a:fillRect/>
          </a:stretch>
        </p:blipFill>
        <p:spPr>
          <a:xfrm>
            <a:off x="5715" y="5208588"/>
            <a:ext cx="12192000" cy="1629410"/>
          </a:xfrm>
          <a:prstGeom prst="rect">
            <a:avLst/>
          </a:prstGeom>
        </p:spPr>
      </p:pic>
      <p:pic>
        <p:nvPicPr>
          <p:cNvPr id="2097373" name="图片 11" descr="C:\Users\Administrator\Desktop\ppt.pngppt"/>
          <p:cNvPicPr>
            <a:picLocks noChangeAspect="1"/>
          </p:cNvPicPr>
          <p:nvPr/>
        </p:nvPicPr>
        <p:blipFill>
          <a:blip r:embed="rId3"/>
          <a:srcRect/>
          <a:stretch>
            <a:fillRect/>
          </a:stretch>
        </p:blipFill>
        <p:spPr>
          <a:xfrm>
            <a:off x="-635" y="318"/>
            <a:ext cx="12192000" cy="1057910"/>
          </a:xfrm>
          <a:prstGeom prst="rect">
            <a:avLst/>
          </a:prstGeom>
        </p:spPr>
      </p:pic>
      <p:sp>
        <p:nvSpPr>
          <p:cNvPr id="51203" name="文本框 1"/>
          <p:cNvSpPr txBox="1">
            <a:spLocks noChangeArrowheads="1"/>
          </p:cNvSpPr>
          <p:nvPr/>
        </p:nvSpPr>
        <p:spPr bwMode="auto">
          <a:xfrm>
            <a:off x="4243070" y="2308543"/>
            <a:ext cx="3705225"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scene3d>
              <a:camera prst="orthographicFront"/>
              <a:lightRig rig="threePt" dir="t"/>
            </a:scene3d>
          </a:bodyPr>
          <a:lstStyle>
            <a:lvl1pPr>
              <a:buFont typeface="Arial" panose="020B0604020202020204" pitchFamily="34" charset="0"/>
              <a:defRPr>
                <a:solidFill>
                  <a:schemeClr val="tx1"/>
                </a:solidFill>
                <a:latin typeface="Calibri" charset="0"/>
                <a:ea typeface="宋体" pitchFamily="2" charset="-122"/>
              </a:defRPr>
            </a:lvl1pPr>
            <a:lvl2pPr marL="742950" indent="-285750">
              <a:buFont typeface="Arial" panose="020B0604020202020204" pitchFamily="34" charset="0"/>
              <a:defRPr>
                <a:solidFill>
                  <a:schemeClr val="tx1"/>
                </a:solidFill>
                <a:latin typeface="Calibri" charset="0"/>
                <a:ea typeface="宋体" pitchFamily="2" charset="-122"/>
              </a:defRPr>
            </a:lvl2pPr>
            <a:lvl3pPr marL="1143000" indent="-228600">
              <a:buFont typeface="Arial" panose="020B0604020202020204" pitchFamily="34" charset="0"/>
              <a:defRPr>
                <a:solidFill>
                  <a:schemeClr val="tx1"/>
                </a:solidFill>
                <a:latin typeface="Calibri" charset="0"/>
                <a:ea typeface="宋体" pitchFamily="2" charset="-122"/>
              </a:defRPr>
            </a:lvl3pPr>
            <a:lvl4pPr marL="1600200" indent="-228600">
              <a:buFont typeface="Arial" panose="020B0604020202020204" pitchFamily="34" charset="0"/>
              <a:defRPr>
                <a:solidFill>
                  <a:schemeClr val="tx1"/>
                </a:solidFill>
                <a:latin typeface="Calibri" charset="0"/>
                <a:ea typeface="宋体" pitchFamily="2" charset="-122"/>
              </a:defRPr>
            </a:lvl4pPr>
            <a:lvl5pPr marL="2057400" indent="-228600">
              <a:buFont typeface="Arial" panose="020B0604020202020204" pitchFamily="34" charset="0"/>
              <a:defRPr>
                <a:solidFill>
                  <a:schemeClr val="tx1"/>
                </a:solidFill>
                <a:latin typeface="Calibri"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charset="0"/>
                <a:ea typeface="宋体" pitchFamily="2" charset="-122"/>
              </a:defRPr>
            </a:lvl9pPr>
          </a:lstStyle>
          <a:p>
            <a:pPr algn="ctr" eaLnBrk="1" hangingPunct="1"/>
            <a:r>
              <a:rPr lang="zh-CN" altLang="en-US" sz="6600">
                <a:solidFill>
                  <a:schemeClr val="accent1"/>
                </a:solidFill>
                <a:effectLst>
                  <a:outerShdw blurRad="38100" dist="25400" dir="5400000" algn="ctr" rotWithShape="0">
                    <a:srgbClr val="6E747A">
                      <a:alpha val="43000"/>
                      <a:alpha val="43000"/>
                    </a:srgbClr>
                  </a:outerShdw>
                </a:effectLst>
                <a:latin typeface="微软雅黑" charset="-122"/>
                <a:ea typeface="微软雅黑" charset="-122"/>
                <a:sym typeface="+mn-ea"/>
              </a:rPr>
              <a:t>感谢聆听</a:t>
            </a:r>
            <a:endParaRPr lang="zh-CN" altLang="en-US" sz="6600">
              <a:solidFill>
                <a:schemeClr val="accent1"/>
              </a:solidFill>
              <a:effectLst>
                <a:outerShdw blurRad="38100" dist="25400" dir="5400000" algn="ctr" rotWithShape="0">
                  <a:srgbClr val="6E747A">
                    <a:alpha val="43000"/>
                    <a:alpha val="43000"/>
                  </a:srgbClr>
                </a:outerShdw>
              </a:effectLst>
              <a:latin typeface="微软雅黑" charset="-122"/>
              <a:ea typeface="微软雅黑" charset="-122"/>
              <a:sym typeface="+mn-ea"/>
            </a:endParaRPr>
          </a:p>
          <a:p>
            <a:pPr algn="ctr" eaLnBrk="1" hangingPunct="1"/>
            <a:endParaRPr lang="zh-CN" altLang="en-US" sz="2800">
              <a:solidFill>
                <a:schemeClr val="accent1"/>
              </a:solidFill>
              <a:effectLst>
                <a:outerShdw blurRad="38100" dist="25400" dir="5400000" algn="ctr" rotWithShape="0">
                  <a:srgbClr val="6E747A">
                    <a:alpha val="43000"/>
                    <a:alpha val="43000"/>
                  </a:srgbClr>
                </a:outerShdw>
              </a:effectLst>
              <a:latin typeface="微软雅黑" charset="-122"/>
              <a:ea typeface="微软雅黑" charset="-122"/>
              <a:sym typeface="+mn-ea"/>
            </a:endParaRPr>
          </a:p>
          <a:p>
            <a:pPr algn="ctr" eaLnBrk="1" hangingPunct="1"/>
            <a:r>
              <a:rPr lang="zh-CN" altLang="en-US" sz="2800">
                <a:solidFill>
                  <a:schemeClr val="accent1"/>
                </a:solidFill>
                <a:effectLst>
                  <a:outerShdw blurRad="38100" dist="25400" dir="5400000" algn="ctr" rotWithShape="0">
                    <a:srgbClr val="6E747A">
                      <a:alpha val="43000"/>
                      <a:alpha val="43000"/>
                    </a:srgbClr>
                  </a:outerShdw>
                </a:effectLst>
                <a:latin typeface="微软雅黑" charset="-122"/>
                <a:ea typeface="微软雅黑" charset="-122"/>
                <a:sym typeface="+mn-ea"/>
              </a:rPr>
              <a:t>请老师同学批评指正</a:t>
            </a:r>
            <a:endParaRPr lang="zh-CN" altLang="en-US" sz="2800">
              <a:solidFill>
                <a:schemeClr val="accent1"/>
              </a:solidFill>
              <a:effectLst>
                <a:outerShdw blurRad="38100" dist="25400" dir="5400000" algn="ctr" rotWithShape="0">
                  <a:srgbClr val="6E747A">
                    <a:alpha val="43000"/>
                    <a:alpha val="43000"/>
                  </a:srgbClr>
                </a:outerShdw>
              </a:effectLst>
              <a:latin typeface="微软雅黑" charset="-122"/>
              <a:ea typeface="微软雅黑"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97374" name="图片 5" descr="未标题-1"/>
          <p:cNvPicPr>
            <a:picLocks noChangeAspect="1"/>
          </p:cNvPicPr>
          <p:nvPr/>
        </p:nvPicPr>
        <p:blipFill>
          <a:blip r:embed="rId1"/>
          <a:stretch>
            <a:fillRect/>
          </a:stretch>
        </p:blipFill>
        <p:spPr>
          <a:xfrm>
            <a:off x="9830435" y="261620"/>
            <a:ext cx="2005965" cy="536575"/>
          </a:xfrm>
          <a:prstGeom prst="rect">
            <a:avLst/>
          </a:prstGeom>
        </p:spPr>
      </p:pic>
    </p:spTree>
  </p:cSld>
  <p:clrMapOvr>
    <a:masterClrMapping/>
  </p:clrMapOvr>
</p:sld>
</file>

<file path=ppt/tags/tag1.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2799</Words>
  <Application>WPS 演示</Application>
  <PresentationFormat>Widescreen</PresentationFormat>
  <Paragraphs>245</Paragraphs>
  <Slides>20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20</vt:i4>
      </vt:variant>
    </vt:vector>
  </HeadingPairs>
  <TitlesOfParts>
    <vt:vector size="35" baseType="lpstr">
      <vt:lpstr>Arial</vt:lpstr>
      <vt:lpstr>宋体</vt:lpstr>
      <vt:lpstr>Wingdings</vt:lpstr>
      <vt:lpstr>微软雅黑</vt:lpstr>
      <vt:lpstr>汉仪旗黑</vt:lpstr>
      <vt:lpstr>等线</vt:lpstr>
      <vt:lpstr>苹方-简</vt:lpstr>
      <vt:lpstr>微软雅黑</vt:lpstr>
      <vt:lpstr>Calibri</vt:lpstr>
      <vt:lpstr>Helvetica Neue</vt:lpstr>
      <vt:lpstr>宋体-简</vt:lpstr>
      <vt:lpstr>宋体</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luoliwen</dc:creator>
  <cp:lastModifiedBy>luoliwen</cp:lastModifiedBy>
  <cp:revision>34</cp:revision>
  <dcterms:created xsi:type="dcterms:W3CDTF">2024-08-02T09:54:51Z</dcterms:created>
  <dcterms:modified xsi:type="dcterms:W3CDTF">2024-08-02T09:54:51Z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2052-5.7.3.8096</vt:lpwstr>
  </property>
</Properties>
</file>